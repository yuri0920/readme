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56" r:id="rId2"/>
    <p:sldId id="260" r:id="rId3"/>
    <p:sldId id="261" r:id="rId4"/>
    <p:sldId id="257" r:id="rId5"/>
    <p:sldId id="264" r:id="rId6"/>
    <p:sldId id="258" r:id="rId7"/>
    <p:sldId id="259" r:id="rId8"/>
    <p:sldId id="262" r:id="rId9"/>
    <p:sldId id="263" r:id="rId10"/>
    <p:sldId id="265" r:id="rId11"/>
    <p:sldId id="266" r:id="rId12"/>
    <p:sldId id="267" r:id="rId13"/>
    <p:sldId id="268" r:id="rId14"/>
    <p:sldId id="269" r:id="rId15"/>
    <p:sldId id="270" r:id="rId16"/>
    <p:sldId id="271" r:id="rId17"/>
    <p:sldId id="272" r:id="rId18"/>
    <p:sldId id="274" r:id="rId19"/>
    <p:sldId id="275" r:id="rId20"/>
    <p:sldId id="273"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32" autoAdjust="0"/>
    <p:restoredTop sz="94704"/>
  </p:normalViewPr>
  <p:slideViewPr>
    <p:cSldViewPr snapToGrid="0">
      <p:cViewPr varScale="1">
        <p:scale>
          <a:sx n="67" d="100"/>
          <a:sy n="67" d="100"/>
        </p:scale>
        <p:origin x="5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6D8AA1B-0994-8B75-DA41-9938F8F8FA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45EA68C4-8645-4DAB-4CDC-E39E07E6E5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7458E0-A044-4799-85C9-D4EE3C56D3DD}" type="datetimeFigureOut">
              <a:rPr kumimoji="1" lang="ja-JP" altLang="en-US" smtClean="0"/>
              <a:t>2026/3/26</a:t>
            </a:fld>
            <a:endParaRPr kumimoji="1" lang="ja-JP" altLang="en-US"/>
          </a:p>
        </p:txBody>
      </p:sp>
      <p:sp>
        <p:nvSpPr>
          <p:cNvPr id="4" name="フッター プレースホルダー 3">
            <a:extLst>
              <a:ext uri="{FF2B5EF4-FFF2-40B4-BE49-F238E27FC236}">
                <a16:creationId xmlns:a16="http://schemas.microsoft.com/office/drawing/2014/main" id="{A60CC76C-B591-54CA-9D35-BD3C0B90A4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B1D5E9C-2747-C870-2F30-C447A233AA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0E82EEC-537E-42C0-9F81-9434918F230F}" type="slidenum">
              <a:rPr kumimoji="1" lang="ja-JP" altLang="en-US" smtClean="0"/>
              <a:t>‹#›</a:t>
            </a:fld>
            <a:endParaRPr kumimoji="1" lang="ja-JP" altLang="en-US"/>
          </a:p>
        </p:txBody>
      </p:sp>
    </p:spTree>
    <p:extLst>
      <p:ext uri="{BB962C8B-B14F-4D97-AF65-F5344CB8AC3E}">
        <p14:creationId xmlns:p14="http://schemas.microsoft.com/office/powerpoint/2010/main" val="15531294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690697-CE26-4AE2-8F2B-20DF641CAFF7}" type="datetimeFigureOut">
              <a:rPr kumimoji="1" lang="ja-JP" altLang="en-US" smtClean="0"/>
              <a:t>2026/3/26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8F7CFF-4820-4E2D-97F5-B84FF2C17D6D}" type="slidenum">
              <a:rPr kumimoji="1" lang="ja-JP" altLang="en-US" smtClean="0"/>
              <a:t>‹#›</a:t>
            </a:fld>
            <a:endParaRPr kumimoji="1" lang="ja-JP" altLang="en-US"/>
          </a:p>
        </p:txBody>
      </p:sp>
    </p:spTree>
    <p:extLst>
      <p:ext uri="{BB962C8B-B14F-4D97-AF65-F5344CB8AC3E}">
        <p14:creationId xmlns:p14="http://schemas.microsoft.com/office/powerpoint/2010/main" val="159150663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78F7CFF-4820-4E2D-97F5-B84FF2C17D6D}" type="slidenum">
              <a:rPr kumimoji="1" lang="ja-JP" altLang="en-US" smtClean="0"/>
              <a:t>4</a:t>
            </a:fld>
            <a:endParaRPr kumimoji="1" lang="ja-JP" altLang="en-US"/>
          </a:p>
        </p:txBody>
      </p:sp>
    </p:spTree>
    <p:extLst>
      <p:ext uri="{BB962C8B-B14F-4D97-AF65-F5344CB8AC3E}">
        <p14:creationId xmlns:p14="http://schemas.microsoft.com/office/powerpoint/2010/main" val="2595283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9DF72-B424-85A5-5D8B-F2490FA6D4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6EAA75-F0FF-84E1-24C6-76DAFA398A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B90E9C2-F7C7-5F03-7C42-C1798A5610B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A06494F-DC25-8C20-4D6E-FBA808FFA88A}"/>
              </a:ext>
            </a:extLst>
          </p:cNvPr>
          <p:cNvSpPr>
            <a:spLocks noGrp="1"/>
          </p:cNvSpPr>
          <p:nvPr>
            <p:ph type="sldNum" sz="quarter" idx="5"/>
          </p:nvPr>
        </p:nvSpPr>
        <p:spPr/>
        <p:txBody>
          <a:bodyPr/>
          <a:lstStyle/>
          <a:p>
            <a:fld id="{B78F7CFF-4820-4E2D-97F5-B84FF2C17D6D}" type="slidenum">
              <a:rPr kumimoji="1" lang="ja-JP" altLang="en-US" smtClean="0"/>
              <a:t>5</a:t>
            </a:fld>
            <a:endParaRPr kumimoji="1" lang="ja-JP" altLang="en-US"/>
          </a:p>
        </p:txBody>
      </p:sp>
    </p:spTree>
    <p:extLst>
      <p:ext uri="{BB962C8B-B14F-4D97-AF65-F5344CB8AC3E}">
        <p14:creationId xmlns:p14="http://schemas.microsoft.com/office/powerpoint/2010/main" val="1505732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７</a:t>
            </a:r>
            <a:r>
              <a:rPr kumimoji="1" lang="en-US" altLang="ja-JP" dirty="0"/>
              <a:t>zip</a:t>
            </a:r>
            <a:r>
              <a:rPr kumimoji="1" lang="ja-JP" altLang="en-US" dirty="0"/>
              <a:t>：</a:t>
            </a:r>
            <a:r>
              <a:rPr kumimoji="1" lang="en-US" altLang="ja-JP" dirty="0"/>
              <a:t>zip</a:t>
            </a:r>
            <a:r>
              <a:rPr kumimoji="1" lang="ja-JP" altLang="en-US" dirty="0"/>
              <a:t>とは異なるファイル圧縮ソフト。</a:t>
            </a:r>
            <a:r>
              <a:rPr kumimoji="1" lang="en-US" altLang="ja-JP" dirty="0"/>
              <a:t>Zip</a:t>
            </a:r>
            <a:r>
              <a:rPr kumimoji="1" lang="ja-JP" altLang="en-US" dirty="0"/>
              <a:t>よりも高圧縮率で大容量データの保存が可能であるが、互換性は低い（圧縮・解凍には対応ソフトが必要）。</a:t>
            </a:r>
          </a:p>
        </p:txBody>
      </p:sp>
      <p:sp>
        <p:nvSpPr>
          <p:cNvPr id="4" name="スライド番号プレースホルダー 3"/>
          <p:cNvSpPr>
            <a:spLocks noGrp="1"/>
          </p:cNvSpPr>
          <p:nvPr>
            <p:ph type="sldNum" sz="quarter" idx="5"/>
          </p:nvPr>
        </p:nvSpPr>
        <p:spPr/>
        <p:txBody>
          <a:bodyPr/>
          <a:lstStyle/>
          <a:p>
            <a:fld id="{B78F7CFF-4820-4E2D-97F5-B84FF2C17D6D}" type="slidenum">
              <a:rPr kumimoji="1" lang="ja-JP" altLang="en-US" smtClean="0"/>
              <a:t>10</a:t>
            </a:fld>
            <a:endParaRPr kumimoji="1" lang="ja-JP" altLang="en-US"/>
          </a:p>
        </p:txBody>
      </p:sp>
    </p:spTree>
    <p:extLst>
      <p:ext uri="{BB962C8B-B14F-4D97-AF65-F5344CB8AC3E}">
        <p14:creationId xmlns:p14="http://schemas.microsoft.com/office/powerpoint/2010/main" val="1001960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7FCA3-4C0C-BBE9-7E90-F0A3E7244F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53CCF3-2B63-BCB7-0263-2ABF733854D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8DC1BE-D845-070C-24D4-5D02DC09B9C4}"/>
              </a:ext>
            </a:extLst>
          </p:cNvPr>
          <p:cNvSpPr>
            <a:spLocks noGrp="1"/>
          </p:cNvSpPr>
          <p:nvPr>
            <p:ph type="body" idx="1"/>
          </p:nvPr>
        </p:nvSpPr>
        <p:spPr/>
        <p:txBody>
          <a:bodyPr/>
          <a:lstStyle/>
          <a:p>
            <a:r>
              <a:rPr kumimoji="1" lang="ja-JP" altLang="en-US" dirty="0"/>
              <a:t>７</a:t>
            </a:r>
            <a:r>
              <a:rPr kumimoji="1" lang="en-US" altLang="ja-JP" dirty="0"/>
              <a:t>zip</a:t>
            </a:r>
            <a:r>
              <a:rPr kumimoji="1" lang="ja-JP" altLang="en-US" dirty="0"/>
              <a:t>：</a:t>
            </a:r>
            <a:r>
              <a:rPr kumimoji="1" lang="en-US" altLang="ja-JP" dirty="0"/>
              <a:t>zip</a:t>
            </a:r>
            <a:r>
              <a:rPr kumimoji="1" lang="ja-JP" altLang="en-US" dirty="0"/>
              <a:t>とは異なるファイル圧縮ソフト。</a:t>
            </a:r>
            <a:r>
              <a:rPr kumimoji="1" lang="en-US" altLang="ja-JP" dirty="0"/>
              <a:t>Zip</a:t>
            </a:r>
            <a:r>
              <a:rPr kumimoji="1" lang="ja-JP" altLang="en-US" dirty="0"/>
              <a:t>よりも高圧縮率で大容量データの保存が可能であるが、互換性は低い（圧縮・解凍には対応ソフトが必要）。</a:t>
            </a:r>
          </a:p>
        </p:txBody>
      </p:sp>
      <p:sp>
        <p:nvSpPr>
          <p:cNvPr id="4" name="スライド番号プレースホルダー 3">
            <a:extLst>
              <a:ext uri="{FF2B5EF4-FFF2-40B4-BE49-F238E27FC236}">
                <a16:creationId xmlns:a16="http://schemas.microsoft.com/office/drawing/2014/main" id="{BB20B5C1-7CE9-3DE0-5B59-2665C1F17EF5}"/>
              </a:ext>
            </a:extLst>
          </p:cNvPr>
          <p:cNvSpPr>
            <a:spLocks noGrp="1"/>
          </p:cNvSpPr>
          <p:nvPr>
            <p:ph type="sldNum" sz="quarter" idx="5"/>
          </p:nvPr>
        </p:nvSpPr>
        <p:spPr/>
        <p:txBody>
          <a:bodyPr/>
          <a:lstStyle/>
          <a:p>
            <a:fld id="{B78F7CFF-4820-4E2D-97F5-B84FF2C17D6D}" type="slidenum">
              <a:rPr kumimoji="1" lang="ja-JP" altLang="en-US" smtClean="0"/>
              <a:t>11</a:t>
            </a:fld>
            <a:endParaRPr kumimoji="1" lang="ja-JP" altLang="en-US"/>
          </a:p>
        </p:txBody>
      </p:sp>
    </p:spTree>
    <p:extLst>
      <p:ext uri="{BB962C8B-B14F-4D97-AF65-F5344CB8AC3E}">
        <p14:creationId xmlns:p14="http://schemas.microsoft.com/office/powerpoint/2010/main" val="1904651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B0D76-400C-4302-9B83-7065AD39B2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93DF9D-AE9E-7B01-396D-A4C4ACEAAD6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1D89BAB-87AB-AA2F-9048-3AA8F526239C}"/>
              </a:ext>
            </a:extLst>
          </p:cNvPr>
          <p:cNvSpPr>
            <a:spLocks noGrp="1"/>
          </p:cNvSpPr>
          <p:nvPr>
            <p:ph type="body" idx="1"/>
          </p:nvPr>
        </p:nvSpPr>
        <p:spPr/>
        <p:txBody>
          <a:bodyPr/>
          <a:lstStyle/>
          <a:p>
            <a:r>
              <a:rPr kumimoji="1" lang="ja-JP" altLang="en-US" dirty="0"/>
              <a:t>７</a:t>
            </a:r>
            <a:r>
              <a:rPr kumimoji="1" lang="en-US" altLang="ja-JP" dirty="0"/>
              <a:t>zip</a:t>
            </a:r>
            <a:r>
              <a:rPr kumimoji="1" lang="ja-JP" altLang="en-US" dirty="0"/>
              <a:t>：</a:t>
            </a:r>
            <a:r>
              <a:rPr kumimoji="1" lang="en-US" altLang="ja-JP" dirty="0"/>
              <a:t>zip</a:t>
            </a:r>
            <a:r>
              <a:rPr kumimoji="1" lang="ja-JP" altLang="en-US" dirty="0"/>
              <a:t>とは異なるファイル圧縮ソフト。</a:t>
            </a:r>
            <a:r>
              <a:rPr kumimoji="1" lang="en-US" altLang="ja-JP" dirty="0"/>
              <a:t>Zip</a:t>
            </a:r>
            <a:r>
              <a:rPr kumimoji="1" lang="ja-JP" altLang="en-US" dirty="0"/>
              <a:t>よりも高圧縮率で大容量データの保存が可能であるが、互換性は低い（圧縮・解凍には対応ソフトが必要）。</a:t>
            </a:r>
          </a:p>
        </p:txBody>
      </p:sp>
      <p:sp>
        <p:nvSpPr>
          <p:cNvPr id="4" name="スライド番号プレースホルダー 3">
            <a:extLst>
              <a:ext uri="{FF2B5EF4-FFF2-40B4-BE49-F238E27FC236}">
                <a16:creationId xmlns:a16="http://schemas.microsoft.com/office/drawing/2014/main" id="{45073E77-3E9C-91C1-C43D-F02E7BD9BEBB}"/>
              </a:ext>
            </a:extLst>
          </p:cNvPr>
          <p:cNvSpPr>
            <a:spLocks noGrp="1"/>
          </p:cNvSpPr>
          <p:nvPr>
            <p:ph type="sldNum" sz="quarter" idx="5"/>
          </p:nvPr>
        </p:nvSpPr>
        <p:spPr/>
        <p:txBody>
          <a:bodyPr/>
          <a:lstStyle/>
          <a:p>
            <a:fld id="{B78F7CFF-4820-4E2D-97F5-B84FF2C17D6D}" type="slidenum">
              <a:rPr kumimoji="1" lang="ja-JP" altLang="en-US" smtClean="0"/>
              <a:t>12</a:t>
            </a:fld>
            <a:endParaRPr kumimoji="1" lang="ja-JP" altLang="en-US"/>
          </a:p>
        </p:txBody>
      </p:sp>
    </p:spTree>
    <p:extLst>
      <p:ext uri="{BB962C8B-B14F-4D97-AF65-F5344CB8AC3E}">
        <p14:creationId xmlns:p14="http://schemas.microsoft.com/office/powerpoint/2010/main" val="1316260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F6D50-68C6-E5A7-0A04-2BF15426A7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E4599DC-B47C-30BA-0AD3-EBC7DAF502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8BCF37C-57AF-5C63-3038-325CD8EC50D9}"/>
              </a:ext>
            </a:extLst>
          </p:cNvPr>
          <p:cNvSpPr>
            <a:spLocks noGrp="1"/>
          </p:cNvSpPr>
          <p:nvPr>
            <p:ph type="body" idx="1"/>
          </p:nvPr>
        </p:nvSpPr>
        <p:spPr/>
        <p:txBody>
          <a:bodyPr/>
          <a:lstStyle/>
          <a:p>
            <a:r>
              <a:rPr kumimoji="1" lang="ja-JP" altLang="en-US" dirty="0"/>
              <a:t>７</a:t>
            </a:r>
            <a:r>
              <a:rPr kumimoji="1" lang="en-US" altLang="ja-JP" dirty="0"/>
              <a:t>zip</a:t>
            </a:r>
            <a:r>
              <a:rPr kumimoji="1" lang="ja-JP" altLang="en-US" dirty="0"/>
              <a:t>：</a:t>
            </a:r>
            <a:r>
              <a:rPr kumimoji="1" lang="en-US" altLang="ja-JP" dirty="0"/>
              <a:t>zip</a:t>
            </a:r>
            <a:r>
              <a:rPr kumimoji="1" lang="ja-JP" altLang="en-US" dirty="0"/>
              <a:t>とは異なるファイル圧縮ソフト。</a:t>
            </a:r>
            <a:r>
              <a:rPr kumimoji="1" lang="en-US" altLang="ja-JP" dirty="0"/>
              <a:t>Zip</a:t>
            </a:r>
            <a:r>
              <a:rPr kumimoji="1" lang="ja-JP" altLang="en-US" dirty="0"/>
              <a:t>よりも高圧縮率で大容量データの保存が可能であるが、互換性は低い（圧縮・解凍には対応ソフトが必要）。</a:t>
            </a:r>
          </a:p>
        </p:txBody>
      </p:sp>
      <p:sp>
        <p:nvSpPr>
          <p:cNvPr id="4" name="スライド番号プレースホルダー 3">
            <a:extLst>
              <a:ext uri="{FF2B5EF4-FFF2-40B4-BE49-F238E27FC236}">
                <a16:creationId xmlns:a16="http://schemas.microsoft.com/office/drawing/2014/main" id="{4CDDD450-BC6C-BBC3-9ADB-E9B716678178}"/>
              </a:ext>
            </a:extLst>
          </p:cNvPr>
          <p:cNvSpPr>
            <a:spLocks noGrp="1"/>
          </p:cNvSpPr>
          <p:nvPr>
            <p:ph type="sldNum" sz="quarter" idx="5"/>
          </p:nvPr>
        </p:nvSpPr>
        <p:spPr/>
        <p:txBody>
          <a:bodyPr/>
          <a:lstStyle/>
          <a:p>
            <a:fld id="{B78F7CFF-4820-4E2D-97F5-B84FF2C17D6D}" type="slidenum">
              <a:rPr kumimoji="1" lang="ja-JP" altLang="en-US" smtClean="0"/>
              <a:t>13</a:t>
            </a:fld>
            <a:endParaRPr kumimoji="1" lang="ja-JP" altLang="en-US"/>
          </a:p>
        </p:txBody>
      </p:sp>
    </p:spTree>
    <p:extLst>
      <p:ext uri="{BB962C8B-B14F-4D97-AF65-F5344CB8AC3E}">
        <p14:creationId xmlns:p14="http://schemas.microsoft.com/office/powerpoint/2010/main" val="3401875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6EF3D-F120-F567-7319-9E72F3D247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3E141E-371F-0655-1EAC-5B58F6906B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F888020-1C08-A6CE-014A-2E54E6A26925}"/>
              </a:ext>
            </a:extLst>
          </p:cNvPr>
          <p:cNvSpPr>
            <a:spLocks noGrp="1"/>
          </p:cNvSpPr>
          <p:nvPr>
            <p:ph type="body" idx="1"/>
          </p:nvPr>
        </p:nvSpPr>
        <p:spPr/>
        <p:txBody>
          <a:bodyPr/>
          <a:lstStyle/>
          <a:p>
            <a:r>
              <a:rPr kumimoji="1" lang="ja-JP" altLang="en-US" dirty="0"/>
              <a:t>７</a:t>
            </a:r>
            <a:r>
              <a:rPr kumimoji="1" lang="en-US" altLang="ja-JP" dirty="0"/>
              <a:t>zip</a:t>
            </a:r>
            <a:r>
              <a:rPr kumimoji="1" lang="ja-JP" altLang="en-US" dirty="0"/>
              <a:t>：</a:t>
            </a:r>
            <a:r>
              <a:rPr kumimoji="1" lang="en-US" altLang="ja-JP" dirty="0"/>
              <a:t>zip</a:t>
            </a:r>
            <a:r>
              <a:rPr kumimoji="1" lang="ja-JP" altLang="en-US" dirty="0"/>
              <a:t>とは異なるファイル圧縮ソフト。</a:t>
            </a:r>
            <a:r>
              <a:rPr kumimoji="1" lang="en-US" altLang="ja-JP" dirty="0"/>
              <a:t>Zip</a:t>
            </a:r>
            <a:r>
              <a:rPr kumimoji="1" lang="ja-JP" altLang="en-US" dirty="0"/>
              <a:t>よりも高圧縮率で大容量データの保存が可能であるが、互換性は低い（圧縮・解凍には対応ソフトが必要）。</a:t>
            </a:r>
          </a:p>
        </p:txBody>
      </p:sp>
      <p:sp>
        <p:nvSpPr>
          <p:cNvPr id="4" name="スライド番号プレースホルダー 3">
            <a:extLst>
              <a:ext uri="{FF2B5EF4-FFF2-40B4-BE49-F238E27FC236}">
                <a16:creationId xmlns:a16="http://schemas.microsoft.com/office/drawing/2014/main" id="{242B81BF-A28C-44E1-B170-7FFA097F2FBF}"/>
              </a:ext>
            </a:extLst>
          </p:cNvPr>
          <p:cNvSpPr>
            <a:spLocks noGrp="1"/>
          </p:cNvSpPr>
          <p:nvPr>
            <p:ph type="sldNum" sz="quarter" idx="5"/>
          </p:nvPr>
        </p:nvSpPr>
        <p:spPr/>
        <p:txBody>
          <a:bodyPr/>
          <a:lstStyle/>
          <a:p>
            <a:fld id="{B78F7CFF-4820-4E2D-97F5-B84FF2C17D6D}" type="slidenum">
              <a:rPr kumimoji="1" lang="ja-JP" altLang="en-US" smtClean="0"/>
              <a:t>14</a:t>
            </a:fld>
            <a:endParaRPr kumimoji="1" lang="ja-JP" altLang="en-US"/>
          </a:p>
        </p:txBody>
      </p:sp>
    </p:spTree>
    <p:extLst>
      <p:ext uri="{BB962C8B-B14F-4D97-AF65-F5344CB8AC3E}">
        <p14:creationId xmlns:p14="http://schemas.microsoft.com/office/powerpoint/2010/main" val="1064796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err="1"/>
              <a:t>RunPod:GPU</a:t>
            </a:r>
            <a:r>
              <a:rPr kumimoji="1" lang="ja-JP" altLang="en-US" dirty="0"/>
              <a:t>クラウドサービス</a:t>
            </a:r>
          </a:p>
        </p:txBody>
      </p:sp>
      <p:sp>
        <p:nvSpPr>
          <p:cNvPr id="4" name="スライド番号プレースホルダー 3"/>
          <p:cNvSpPr>
            <a:spLocks noGrp="1"/>
          </p:cNvSpPr>
          <p:nvPr>
            <p:ph type="sldNum" sz="quarter" idx="5"/>
          </p:nvPr>
        </p:nvSpPr>
        <p:spPr/>
        <p:txBody>
          <a:bodyPr/>
          <a:lstStyle/>
          <a:p>
            <a:fld id="{B78F7CFF-4820-4E2D-97F5-B84FF2C17D6D}" type="slidenum">
              <a:rPr kumimoji="1" lang="ja-JP" altLang="en-US" smtClean="0"/>
              <a:t>30</a:t>
            </a:fld>
            <a:endParaRPr kumimoji="1" lang="ja-JP" altLang="en-US"/>
          </a:p>
        </p:txBody>
      </p:sp>
    </p:spTree>
    <p:extLst>
      <p:ext uri="{BB962C8B-B14F-4D97-AF65-F5344CB8AC3E}">
        <p14:creationId xmlns:p14="http://schemas.microsoft.com/office/powerpoint/2010/main" val="3438695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C23586-0B8D-09E7-767C-62876521074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282F3CF-34F1-3F43-DF75-32EBBA4530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BD19FBC-3D0C-A646-D0AB-78689EC0E191}"/>
              </a:ext>
            </a:extLst>
          </p:cNvPr>
          <p:cNvSpPr>
            <a:spLocks noGrp="1"/>
          </p:cNvSpPr>
          <p:nvPr>
            <p:ph type="dt" sz="half" idx="10"/>
          </p:nvPr>
        </p:nvSpPr>
        <p:spPr/>
        <p:txBody>
          <a:bodyPr/>
          <a:lstStyle/>
          <a:p>
            <a:fld id="{E96071D1-1CCA-4CFF-BA02-DBFD498A1C0E}" type="datetime1">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D357E710-7EDB-E93E-46AB-4D92F23746E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54ABB0-F5D9-F530-27E0-B2C03D2E1A02}"/>
              </a:ext>
            </a:extLst>
          </p:cNvPr>
          <p:cNvSpPr>
            <a:spLocks noGrp="1"/>
          </p:cNvSpPr>
          <p:nvPr>
            <p:ph type="sldNum" sz="quarter" idx="12"/>
          </p:nvPr>
        </p:nvSpPr>
        <p:spPr/>
        <p:txBody>
          <a:bodyPr/>
          <a:lstStyle>
            <a:lvl1pPr>
              <a:defRPr sz="1800" b="1"/>
            </a:lvl1pPr>
          </a:lstStyle>
          <a:p>
            <a:fld id="{FDD896F4-601B-4F0E-8AC8-6F1BA59B2012}" type="slidenum">
              <a:rPr lang="ja-JP" altLang="en-US" smtClean="0"/>
              <a:pPr/>
              <a:t>‹#›</a:t>
            </a:fld>
            <a:endParaRPr lang="ja-JP" altLang="en-US" sz="1800"/>
          </a:p>
        </p:txBody>
      </p:sp>
    </p:spTree>
    <p:extLst>
      <p:ext uri="{BB962C8B-B14F-4D97-AF65-F5344CB8AC3E}">
        <p14:creationId xmlns:p14="http://schemas.microsoft.com/office/powerpoint/2010/main" val="3015076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CC78F4-DF0E-5E1C-52F8-1B2A59796C7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7B60E9F-2264-D571-961E-C0AE1CC2382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451BEE5-8335-12A7-E343-77EEA325073D}"/>
              </a:ext>
            </a:extLst>
          </p:cNvPr>
          <p:cNvSpPr>
            <a:spLocks noGrp="1"/>
          </p:cNvSpPr>
          <p:nvPr>
            <p:ph type="dt" sz="half" idx="10"/>
          </p:nvPr>
        </p:nvSpPr>
        <p:spPr/>
        <p:txBody>
          <a:bodyPr/>
          <a:lstStyle/>
          <a:p>
            <a:fld id="{CB0FB390-2F22-4CD5-9A1E-3EE8B4914EFB}" type="datetime1">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18D91232-8CF8-B3DA-4D7C-C74DE4C730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37AEFDC-2A71-23F9-349C-10A067E38116}"/>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2361740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9B5372-D200-3A33-FED0-25EBEEF99EB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554A28D-76ED-59DF-0620-A81A5015F1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3F6F0DF-E46A-963A-3B9F-45D32A6C7987}"/>
              </a:ext>
            </a:extLst>
          </p:cNvPr>
          <p:cNvSpPr>
            <a:spLocks noGrp="1"/>
          </p:cNvSpPr>
          <p:nvPr>
            <p:ph type="dt" sz="half" idx="10"/>
          </p:nvPr>
        </p:nvSpPr>
        <p:spPr/>
        <p:txBody>
          <a:bodyPr/>
          <a:lstStyle/>
          <a:p>
            <a:fld id="{3E2216A4-4EAA-4FE2-89CB-F27F23FF1A83}" type="datetime1">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1F765A43-D1FC-7B98-8143-B14BBE8FEB8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CCF842-892D-4897-B472-E4E365DC7DF4}"/>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233449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E1E4A1-E88A-7C55-57DA-2D7FF12D6B2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17A28F6-E653-D5EC-0E48-559FF95AB22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33E7B5D-7371-26DB-1DA6-D8EE528F416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A0F8285-78DF-F996-01C2-9A1E318DD332}"/>
              </a:ext>
            </a:extLst>
          </p:cNvPr>
          <p:cNvSpPr>
            <a:spLocks noGrp="1"/>
          </p:cNvSpPr>
          <p:nvPr>
            <p:ph type="dt" sz="half" idx="10"/>
          </p:nvPr>
        </p:nvSpPr>
        <p:spPr/>
        <p:txBody>
          <a:bodyPr/>
          <a:lstStyle/>
          <a:p>
            <a:fld id="{FE2C54F2-A62D-4759-8F52-F61FD5DD6F69}" type="datetime1">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C2747016-B8EF-B7D4-3860-BA078D7A405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9740033-CA83-AC2F-C371-07AAB216D170}"/>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952741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2E49C8-D5CD-D16B-7444-6B030BBEC17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3B38555-8452-8880-2160-8A6C5C9872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71289DD-54F1-E077-B147-D20BDE1E041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3DAE285-6BA4-6CFD-C5FD-3BA3309176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6C5F8BB-36C1-582B-AEE3-0E9C49C19EA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8A9C867-F42B-10CC-91CE-2E7D96676C96}"/>
              </a:ext>
            </a:extLst>
          </p:cNvPr>
          <p:cNvSpPr>
            <a:spLocks noGrp="1"/>
          </p:cNvSpPr>
          <p:nvPr>
            <p:ph type="dt" sz="half" idx="10"/>
          </p:nvPr>
        </p:nvSpPr>
        <p:spPr/>
        <p:txBody>
          <a:bodyPr/>
          <a:lstStyle/>
          <a:p>
            <a:fld id="{98125F5B-5111-4D49-AB38-6C4A330A414A}" type="datetime1">
              <a:rPr kumimoji="1" lang="ja-JP" altLang="en-US" smtClean="0"/>
              <a:t>2026/3/26</a:t>
            </a:fld>
            <a:endParaRPr kumimoji="1" lang="ja-JP" altLang="en-US"/>
          </a:p>
        </p:txBody>
      </p:sp>
      <p:sp>
        <p:nvSpPr>
          <p:cNvPr id="8" name="フッター プレースホルダー 7">
            <a:extLst>
              <a:ext uri="{FF2B5EF4-FFF2-40B4-BE49-F238E27FC236}">
                <a16:creationId xmlns:a16="http://schemas.microsoft.com/office/drawing/2014/main" id="{C496A0A5-13E1-6562-3B59-85F3FC0AB13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AC965A4-6C54-A391-617E-A3A745A0F94B}"/>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935805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1A74D2-6535-0778-F5E9-64D5D35DE87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1864C35-3C7F-4F09-5B2C-7158478CB440}"/>
              </a:ext>
            </a:extLst>
          </p:cNvPr>
          <p:cNvSpPr>
            <a:spLocks noGrp="1"/>
          </p:cNvSpPr>
          <p:nvPr>
            <p:ph type="dt" sz="half" idx="10"/>
          </p:nvPr>
        </p:nvSpPr>
        <p:spPr/>
        <p:txBody>
          <a:bodyPr/>
          <a:lstStyle/>
          <a:p>
            <a:fld id="{199941FC-DCBF-4645-8246-7F75C9A0C0E4}" type="datetime1">
              <a:rPr kumimoji="1" lang="ja-JP" altLang="en-US" smtClean="0"/>
              <a:t>2026/3/26</a:t>
            </a:fld>
            <a:endParaRPr kumimoji="1" lang="ja-JP" altLang="en-US"/>
          </a:p>
        </p:txBody>
      </p:sp>
      <p:sp>
        <p:nvSpPr>
          <p:cNvPr id="4" name="フッター プレースホルダー 3">
            <a:extLst>
              <a:ext uri="{FF2B5EF4-FFF2-40B4-BE49-F238E27FC236}">
                <a16:creationId xmlns:a16="http://schemas.microsoft.com/office/drawing/2014/main" id="{7903F38C-0BD4-5A27-C5F0-F091BCD4BA3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8813D88-9D25-6504-1249-143C907FE94A}"/>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2347144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6F6A7F2-387F-9472-8682-48FB279C8340}"/>
              </a:ext>
            </a:extLst>
          </p:cNvPr>
          <p:cNvSpPr>
            <a:spLocks noGrp="1"/>
          </p:cNvSpPr>
          <p:nvPr>
            <p:ph type="dt" sz="half" idx="10"/>
          </p:nvPr>
        </p:nvSpPr>
        <p:spPr/>
        <p:txBody>
          <a:bodyPr/>
          <a:lstStyle/>
          <a:p>
            <a:fld id="{2D0B877A-B153-4B73-A2EA-E7317A611927}" type="datetime1">
              <a:rPr kumimoji="1" lang="ja-JP" altLang="en-US" smtClean="0"/>
              <a:t>2026/3/26</a:t>
            </a:fld>
            <a:endParaRPr kumimoji="1" lang="ja-JP" altLang="en-US"/>
          </a:p>
        </p:txBody>
      </p:sp>
      <p:sp>
        <p:nvSpPr>
          <p:cNvPr id="3" name="フッター プレースホルダー 2">
            <a:extLst>
              <a:ext uri="{FF2B5EF4-FFF2-40B4-BE49-F238E27FC236}">
                <a16:creationId xmlns:a16="http://schemas.microsoft.com/office/drawing/2014/main" id="{A59A984C-34B3-91F3-CCDE-0913C6065F5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2162C28-49C2-98C0-7806-06BE1FD5FB8F}"/>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1836226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329C42-83C3-1A37-BE64-EE42762861C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46357D9-5F62-00E3-D0A7-AB5A7D6EE5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7238F5E-9563-BC83-9967-C0822F471C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DB27E0A-C457-7987-1C3B-3DB65745E863}"/>
              </a:ext>
            </a:extLst>
          </p:cNvPr>
          <p:cNvSpPr>
            <a:spLocks noGrp="1"/>
          </p:cNvSpPr>
          <p:nvPr>
            <p:ph type="dt" sz="half" idx="10"/>
          </p:nvPr>
        </p:nvSpPr>
        <p:spPr/>
        <p:txBody>
          <a:bodyPr/>
          <a:lstStyle/>
          <a:p>
            <a:fld id="{0321057F-551D-4377-83AB-C69C0177CA8B}" type="datetime1">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428097F4-3002-5514-55FF-3EE2D4DDD6D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040FD96-2882-7B4C-8949-F1E0EB7F44CB}"/>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1111083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9026A8-4DE4-2017-2469-B615D904CD6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8144B1D-7E10-6147-A26D-168330C159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09E0B3A-F61D-356B-F6B2-00170565F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7E0CAF8-5DE7-067F-D68C-7D530FF65B6F}"/>
              </a:ext>
            </a:extLst>
          </p:cNvPr>
          <p:cNvSpPr>
            <a:spLocks noGrp="1"/>
          </p:cNvSpPr>
          <p:nvPr>
            <p:ph type="dt" sz="half" idx="10"/>
          </p:nvPr>
        </p:nvSpPr>
        <p:spPr/>
        <p:txBody>
          <a:bodyPr/>
          <a:lstStyle/>
          <a:p>
            <a:fld id="{49BF6933-16D6-4C8B-A9EB-13F753AEDE7F}" type="datetime1">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9EC7800A-0154-B6F7-8D33-F4001C9CDDE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2219279-869B-B2F3-C4D0-BAF51024820D}"/>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3537928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6973F3-05DB-25A4-882A-3CA55D64899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80C8983-C77E-08C3-2CD2-3109C0FA5D9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BFA0E8B-CF01-1A98-614F-2587B35C4F8B}"/>
              </a:ext>
            </a:extLst>
          </p:cNvPr>
          <p:cNvSpPr>
            <a:spLocks noGrp="1"/>
          </p:cNvSpPr>
          <p:nvPr>
            <p:ph type="dt" sz="half" idx="10"/>
          </p:nvPr>
        </p:nvSpPr>
        <p:spPr/>
        <p:txBody>
          <a:bodyPr/>
          <a:lstStyle/>
          <a:p>
            <a:fld id="{E47F3067-8F21-4DEF-991B-1DC72878AA9C}" type="datetime1">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433DC31F-85C9-6C52-75A8-C41C44511D5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BDFA427-31CD-EA33-3E6D-4C50B2A30AD0}"/>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3208811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9AF8245-5C7F-5A28-739B-21B8D19F682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2BA6C33-C84F-CB8F-1EA8-88363C0A338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6E0A801-E741-3C54-5388-785CAF4A667E}"/>
              </a:ext>
            </a:extLst>
          </p:cNvPr>
          <p:cNvSpPr>
            <a:spLocks noGrp="1"/>
          </p:cNvSpPr>
          <p:nvPr>
            <p:ph type="dt" sz="half" idx="10"/>
          </p:nvPr>
        </p:nvSpPr>
        <p:spPr/>
        <p:txBody>
          <a:bodyPr/>
          <a:lstStyle/>
          <a:p>
            <a:fld id="{68EA2769-DD10-46BA-B1CE-AD7A680F14B7}" type="datetime1">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36BB5C90-C9C6-7EA4-ABBE-64EE54F4E3F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3D539D-B932-6E5D-F0F7-3A9CFB8F2891}"/>
              </a:ext>
            </a:extLst>
          </p:cNvPr>
          <p:cNvSpPr>
            <a:spLocks noGrp="1"/>
          </p:cNvSpPr>
          <p:nvPr>
            <p:ph type="sldNum" sz="quarter" idx="12"/>
          </p:nvPr>
        </p:nvSpPr>
        <p:spPr/>
        <p:txBody>
          <a:bodyPr/>
          <a:lstStyle/>
          <a:p>
            <a:fld id="{FDD896F4-601B-4F0E-8AC8-6F1BA59B2012}" type="slidenum">
              <a:rPr kumimoji="1" lang="ja-JP" altLang="en-US" smtClean="0"/>
              <a:t>‹#›</a:t>
            </a:fld>
            <a:endParaRPr kumimoji="1" lang="ja-JP" altLang="en-US"/>
          </a:p>
        </p:txBody>
      </p:sp>
    </p:spTree>
    <p:extLst>
      <p:ext uri="{BB962C8B-B14F-4D97-AF65-F5344CB8AC3E}">
        <p14:creationId xmlns:p14="http://schemas.microsoft.com/office/powerpoint/2010/main" val="2927933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4A5E884-DFCD-0D2D-C1DE-4A04A53CC2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C07B322-3D45-415E-CCC8-326030ADD1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905DA76-C824-E2C2-D1A5-B6EE59D782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DCD3F1-1849-47F9-B3A7-E89DEBD2B5B2}" type="datetime1">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48DC1876-396B-2713-CD6F-5101FA231B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E6C7130-A280-FAD1-0BE1-1B269F067D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b="1">
                <a:solidFill>
                  <a:schemeClr val="tx1"/>
                </a:solidFill>
              </a:defRPr>
            </a:lvl1pPr>
          </a:lstStyle>
          <a:p>
            <a:fld id="{FDD896F4-601B-4F0E-8AC8-6F1BA59B2012}" type="slidenum">
              <a:rPr lang="ja-JP" altLang="en-US" smtClean="0"/>
              <a:pPr/>
              <a:t>‹#›</a:t>
            </a:fld>
            <a:endParaRPr lang="ja-JP" altLang="en-US"/>
          </a:p>
        </p:txBody>
      </p:sp>
    </p:spTree>
    <p:extLst>
      <p:ext uri="{BB962C8B-B14F-4D97-AF65-F5344CB8AC3E}">
        <p14:creationId xmlns:p14="http://schemas.microsoft.com/office/powerpoint/2010/main" val="853239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RVC-Project/Retrieval-based-Voice-Conversion-WebUI?tab=readme-ov-file"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svg"/><Relationship Id="rId11" Type="http://schemas.openxmlformats.org/officeDocument/2006/relationships/image" Target="../media/image11.sv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python.org/downloads/window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huggingface.co/lj1995/VoiceConversionWebUI/blob/main/RVC-beta.7z"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7-zip.opensource.jp/"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huggingface.co/lj1995/VoiceConversionWebUI/blob/main/RVC-beta.7z"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7-zip.opensource.jp/"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huggingface.co/lj1995/VoiceConversionWebUI/blob/main/RVC-beta.7z"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7-zip.opensource.jp/"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ffmpeg.or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hyperlink" Target="https://www.audacityteam.org/" TargetMode="Externa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n6Bm7JbHn-o"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child-programmer.com/rvc-tutorial-rp/" TargetMode="External"/><Relationship Id="rId5" Type="http://schemas.openxmlformats.org/officeDocument/2006/relationships/hyperlink" Target="https://github.com/daswer123/rvc-python" TargetMode="External"/><Relationship Id="rId4" Type="http://schemas.openxmlformats.org/officeDocument/2006/relationships/hyperlink" Target="https://www.youtube.com/watch?v=QthelOg3Ld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45A92B-CD04-416A-6F11-501856DD88AB}"/>
              </a:ext>
            </a:extLst>
          </p:cNvPr>
          <p:cNvSpPr>
            <a:spLocks noGrp="1"/>
          </p:cNvSpPr>
          <p:nvPr>
            <p:ph type="ctrTitle"/>
          </p:nvPr>
        </p:nvSpPr>
        <p:spPr/>
        <p:txBody>
          <a:bodyPr/>
          <a:lstStyle/>
          <a:p>
            <a:r>
              <a:rPr kumimoji="1" lang="en-US" altLang="ja-JP" dirty="0"/>
              <a:t>RVC</a:t>
            </a:r>
            <a:r>
              <a:rPr kumimoji="1" lang="ja-JP" altLang="en-US" dirty="0"/>
              <a:t>の導入・使用方法</a:t>
            </a:r>
          </a:p>
        </p:txBody>
      </p:sp>
      <p:sp>
        <p:nvSpPr>
          <p:cNvPr id="6" name="スライド番号プレースホルダー 5">
            <a:extLst>
              <a:ext uri="{FF2B5EF4-FFF2-40B4-BE49-F238E27FC236}">
                <a16:creationId xmlns:a16="http://schemas.microsoft.com/office/drawing/2014/main" id="{B153F730-0986-DB75-CB56-A0335051AD91}"/>
              </a:ext>
            </a:extLst>
          </p:cNvPr>
          <p:cNvSpPr>
            <a:spLocks noGrp="1"/>
          </p:cNvSpPr>
          <p:nvPr>
            <p:ph type="sldNum" sz="quarter" idx="12"/>
          </p:nvPr>
        </p:nvSpPr>
        <p:spPr/>
        <p:txBody>
          <a:bodyPr/>
          <a:lstStyle/>
          <a:p>
            <a:fld id="{FDD896F4-601B-4F0E-8AC8-6F1BA59B2012}" type="slidenum">
              <a:rPr kumimoji="1" lang="ja-JP" altLang="en-US" smtClean="0"/>
              <a:t>1</a:t>
            </a:fld>
            <a:endParaRPr kumimoji="1" lang="ja-JP" altLang="en-US"/>
          </a:p>
        </p:txBody>
      </p:sp>
    </p:spTree>
    <p:extLst>
      <p:ext uri="{BB962C8B-B14F-4D97-AF65-F5344CB8AC3E}">
        <p14:creationId xmlns:p14="http://schemas.microsoft.com/office/powerpoint/2010/main" val="460657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BCE20A-DE5A-EECA-6C99-8CBF18CD1C4A}"/>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1F97AE97-C91C-E674-3EB1-E25AA8D2CCE0}"/>
              </a:ext>
            </a:extLst>
          </p:cNvPr>
          <p:cNvSpPr>
            <a:spLocks noGrp="1"/>
          </p:cNvSpPr>
          <p:nvPr>
            <p:ph idx="1"/>
          </p:nvPr>
        </p:nvSpPr>
        <p:spPr/>
        <p:txBody>
          <a:bodyPr/>
          <a:lstStyle/>
          <a:p>
            <a:r>
              <a:rPr kumimoji="1" lang="en-US" altLang="ja-JP" dirty="0"/>
              <a:t>RVC</a:t>
            </a:r>
            <a:r>
              <a:rPr kumimoji="1" lang="ja-JP" altLang="en-US" dirty="0"/>
              <a:t>とは</a:t>
            </a:r>
            <a:endParaRPr kumimoji="1" lang="en-US" altLang="ja-JP" dirty="0"/>
          </a:p>
          <a:p>
            <a:endParaRPr lang="en-US" altLang="ja-JP" dirty="0"/>
          </a:p>
          <a:p>
            <a:r>
              <a:rPr kumimoji="1" lang="en-US" altLang="ja-JP" dirty="0"/>
              <a:t>RVC</a:t>
            </a:r>
            <a:r>
              <a:rPr kumimoji="1" lang="ja-JP" altLang="en-US" dirty="0"/>
              <a:t>の導入方法</a:t>
            </a:r>
            <a:endParaRPr kumimoji="1" lang="en-US" altLang="ja-JP" dirty="0"/>
          </a:p>
          <a:p>
            <a:endParaRPr lang="en-US" altLang="ja-JP" dirty="0"/>
          </a:p>
          <a:p>
            <a:r>
              <a:rPr kumimoji="1" lang="en-US" altLang="ja-JP" dirty="0"/>
              <a:t>RVC-</a:t>
            </a:r>
            <a:r>
              <a:rPr lang="en-US" altLang="ja-JP" dirty="0" err="1"/>
              <a:t>W</a:t>
            </a:r>
            <a:r>
              <a:rPr kumimoji="1" lang="en-US" altLang="ja-JP" dirty="0" err="1"/>
              <a:t>ebUI</a:t>
            </a:r>
            <a:r>
              <a:rPr kumimoji="1" lang="ja-JP" altLang="en-US" dirty="0"/>
              <a:t>の使い方</a:t>
            </a:r>
          </a:p>
        </p:txBody>
      </p:sp>
      <p:sp>
        <p:nvSpPr>
          <p:cNvPr id="4" name="スライド番号プレースホルダー 3">
            <a:extLst>
              <a:ext uri="{FF2B5EF4-FFF2-40B4-BE49-F238E27FC236}">
                <a16:creationId xmlns:a16="http://schemas.microsoft.com/office/drawing/2014/main" id="{581C8CAD-2023-065B-95F0-2B6B9E68EBBB}"/>
              </a:ext>
            </a:extLst>
          </p:cNvPr>
          <p:cNvSpPr>
            <a:spLocks noGrp="1"/>
          </p:cNvSpPr>
          <p:nvPr>
            <p:ph type="sldNum" sz="quarter" idx="12"/>
          </p:nvPr>
        </p:nvSpPr>
        <p:spPr/>
        <p:txBody>
          <a:bodyPr/>
          <a:lstStyle/>
          <a:p>
            <a:fld id="{FDD896F4-601B-4F0E-8AC8-6F1BA59B2012}" type="slidenum">
              <a:rPr kumimoji="1" lang="ja-JP" altLang="en-US" smtClean="0"/>
              <a:t>2</a:t>
            </a:fld>
            <a:endParaRPr kumimoji="1" lang="ja-JP" altLang="en-US"/>
          </a:p>
        </p:txBody>
      </p:sp>
    </p:spTree>
    <p:extLst>
      <p:ext uri="{BB962C8B-B14F-4D97-AF65-F5344CB8AC3E}">
        <p14:creationId xmlns:p14="http://schemas.microsoft.com/office/powerpoint/2010/main" val="3499773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1077E-CDFA-AF2E-C2B0-0F073F5DB0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3D8E31-E727-23F1-BADC-7326AD5D1C7F}"/>
              </a:ext>
            </a:extLst>
          </p:cNvPr>
          <p:cNvSpPr>
            <a:spLocks noGrp="1"/>
          </p:cNvSpPr>
          <p:nvPr>
            <p:ph type="title"/>
          </p:nvPr>
        </p:nvSpPr>
        <p:spPr/>
        <p:txBody>
          <a:bodyPr/>
          <a:lstStyle/>
          <a:p>
            <a:r>
              <a:rPr kumimoji="1" lang="en-US" altLang="ja-JP" dirty="0"/>
              <a:t>RVC</a:t>
            </a:r>
            <a:r>
              <a:rPr lang="ja-JP" altLang="en-US" dirty="0"/>
              <a:t>とは</a:t>
            </a:r>
            <a:endParaRPr kumimoji="1" lang="ja-JP" altLang="en-US" dirty="0"/>
          </a:p>
        </p:txBody>
      </p:sp>
      <p:sp>
        <p:nvSpPr>
          <p:cNvPr id="3" name="テキスト プレースホルダー 2">
            <a:extLst>
              <a:ext uri="{FF2B5EF4-FFF2-40B4-BE49-F238E27FC236}">
                <a16:creationId xmlns:a16="http://schemas.microsoft.com/office/drawing/2014/main" id="{48C6F0CA-42FF-D3D5-D016-B89E1FB5E82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7C1C5B1-27EF-3660-1CD2-F3547C37D959}"/>
              </a:ext>
            </a:extLst>
          </p:cNvPr>
          <p:cNvSpPr>
            <a:spLocks noGrp="1"/>
          </p:cNvSpPr>
          <p:nvPr>
            <p:ph type="sldNum" sz="quarter" idx="12"/>
          </p:nvPr>
        </p:nvSpPr>
        <p:spPr/>
        <p:txBody>
          <a:bodyPr/>
          <a:lstStyle/>
          <a:p>
            <a:fld id="{FDD896F4-601B-4F0E-8AC8-6F1BA59B2012}" type="slidenum">
              <a:rPr kumimoji="1" lang="ja-JP" altLang="en-US" smtClean="0"/>
              <a:t>3</a:t>
            </a:fld>
            <a:endParaRPr kumimoji="1" lang="ja-JP" altLang="en-US"/>
          </a:p>
        </p:txBody>
      </p:sp>
    </p:spTree>
    <p:extLst>
      <p:ext uri="{BB962C8B-B14F-4D97-AF65-F5344CB8AC3E}">
        <p14:creationId xmlns:p14="http://schemas.microsoft.com/office/powerpoint/2010/main" val="4152821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B82B8AB7-7541-050A-70A1-FFC9743D28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2148" y="1825625"/>
            <a:ext cx="6639852" cy="3562847"/>
          </a:xfrm>
          <a:prstGeom prst="rect">
            <a:avLst/>
          </a:prstGeom>
        </p:spPr>
      </p:pic>
      <p:sp>
        <p:nvSpPr>
          <p:cNvPr id="2" name="タイトル 1">
            <a:extLst>
              <a:ext uri="{FF2B5EF4-FFF2-40B4-BE49-F238E27FC236}">
                <a16:creationId xmlns:a16="http://schemas.microsoft.com/office/drawing/2014/main" id="{A924C780-28E1-BEF7-B979-DAD9A2D15F9E}"/>
              </a:ext>
            </a:extLst>
          </p:cNvPr>
          <p:cNvSpPr>
            <a:spLocks noGrp="1"/>
          </p:cNvSpPr>
          <p:nvPr>
            <p:ph type="title"/>
          </p:nvPr>
        </p:nvSpPr>
        <p:spPr/>
        <p:txBody>
          <a:bodyPr/>
          <a:lstStyle/>
          <a:p>
            <a:r>
              <a:rPr kumimoji="1" lang="en-US" altLang="ja-JP" dirty="0"/>
              <a:t>RVC</a:t>
            </a:r>
            <a:r>
              <a:rPr kumimoji="1" lang="ja-JP" altLang="en-US" dirty="0"/>
              <a:t>とは</a:t>
            </a:r>
          </a:p>
        </p:txBody>
      </p:sp>
      <p:sp>
        <p:nvSpPr>
          <p:cNvPr id="3" name="コンテンツ プレースホルダー 2">
            <a:extLst>
              <a:ext uri="{FF2B5EF4-FFF2-40B4-BE49-F238E27FC236}">
                <a16:creationId xmlns:a16="http://schemas.microsoft.com/office/drawing/2014/main" id="{53E8CA96-C88A-2030-6499-EBB36C8FE5AC}"/>
              </a:ext>
            </a:extLst>
          </p:cNvPr>
          <p:cNvSpPr>
            <a:spLocks noGrp="1"/>
          </p:cNvSpPr>
          <p:nvPr>
            <p:ph idx="1"/>
          </p:nvPr>
        </p:nvSpPr>
        <p:spPr>
          <a:xfrm>
            <a:off x="838200" y="1825625"/>
            <a:ext cx="5076825" cy="4351338"/>
          </a:xfrm>
        </p:spPr>
        <p:txBody>
          <a:bodyPr>
            <a:normAutofit/>
          </a:bodyPr>
          <a:lstStyle/>
          <a:p>
            <a:r>
              <a:rPr lang="en-US" altLang="ja-JP" sz="2400" dirty="0"/>
              <a:t>Retrieval-based Voice Conversion</a:t>
            </a:r>
          </a:p>
          <a:p>
            <a:r>
              <a:rPr kumimoji="1" lang="ja-JP" altLang="en-US" sz="2400" dirty="0"/>
              <a:t>モデルトレーニングおよび</a:t>
            </a:r>
            <a:br>
              <a:rPr kumimoji="1" lang="en-US" altLang="ja-JP" sz="2400" dirty="0"/>
            </a:br>
            <a:r>
              <a:rPr kumimoji="1" lang="ja-JP" altLang="en-US" sz="2400" dirty="0"/>
              <a:t>モデルを用いた音声変換が</a:t>
            </a:r>
            <a:br>
              <a:rPr kumimoji="1" lang="en-US" altLang="ja-JP" sz="2400" dirty="0"/>
            </a:br>
            <a:r>
              <a:rPr kumimoji="1" lang="ja-JP" altLang="en-US" sz="2400" dirty="0"/>
              <a:t>可能な</a:t>
            </a:r>
            <a:r>
              <a:rPr kumimoji="1" lang="en-US" altLang="ja-JP" sz="2400" dirty="0"/>
              <a:t>AI</a:t>
            </a:r>
            <a:r>
              <a:rPr kumimoji="1" lang="ja-JP" altLang="en-US" sz="2400" dirty="0"/>
              <a:t>ボイスチェンジャー</a:t>
            </a:r>
            <a:endParaRPr kumimoji="1" lang="en-US" altLang="ja-JP" sz="2400" dirty="0"/>
          </a:p>
          <a:p>
            <a:r>
              <a:rPr lang="ja-JP" altLang="en-US" sz="2400" dirty="0"/>
              <a:t>少量のデータから</a:t>
            </a:r>
            <a:br>
              <a:rPr lang="en-US" altLang="ja-JP" sz="2400" dirty="0"/>
            </a:br>
            <a:r>
              <a:rPr lang="ja-JP" altLang="en-US" sz="2400" dirty="0"/>
              <a:t>高品質な音声変換が可能</a:t>
            </a:r>
            <a:endParaRPr lang="en-US" altLang="ja-JP" sz="2400" dirty="0"/>
          </a:p>
          <a:p>
            <a:r>
              <a:rPr lang="en-US" altLang="ja-JP" sz="2400" dirty="0" err="1"/>
              <a:t>Github</a:t>
            </a:r>
            <a:r>
              <a:rPr lang="ja-JP" altLang="en-US" sz="2400" dirty="0"/>
              <a:t>リポジトリ：</a:t>
            </a:r>
            <a:br>
              <a:rPr lang="en-US" altLang="ja-JP" sz="2400" dirty="0"/>
            </a:br>
            <a:r>
              <a:rPr lang="en-US" altLang="ja-JP" sz="2000" dirty="0">
                <a:solidFill>
                  <a:schemeClr val="accent4"/>
                </a:solidFill>
                <a:hlinkClick r:id="rId4"/>
              </a:rPr>
              <a:t>https://github.com/RVC-Project/Retrieval-based-Voice-Conversion-WebUI?tab=readme-ov-file</a:t>
            </a:r>
            <a:endParaRPr lang="en-US" altLang="ja-JP" sz="2400" dirty="0">
              <a:solidFill>
                <a:schemeClr val="accent4"/>
              </a:solidFill>
            </a:endParaRPr>
          </a:p>
        </p:txBody>
      </p:sp>
      <p:sp>
        <p:nvSpPr>
          <p:cNvPr id="4" name="スライド番号プレースホルダー 3">
            <a:extLst>
              <a:ext uri="{FF2B5EF4-FFF2-40B4-BE49-F238E27FC236}">
                <a16:creationId xmlns:a16="http://schemas.microsoft.com/office/drawing/2014/main" id="{068146AD-67B4-4417-420E-BE68A0A8771E}"/>
              </a:ext>
            </a:extLst>
          </p:cNvPr>
          <p:cNvSpPr>
            <a:spLocks noGrp="1"/>
          </p:cNvSpPr>
          <p:nvPr>
            <p:ph type="sldNum" sz="quarter" idx="12"/>
          </p:nvPr>
        </p:nvSpPr>
        <p:spPr/>
        <p:txBody>
          <a:bodyPr/>
          <a:lstStyle/>
          <a:p>
            <a:fld id="{FDD896F4-601B-4F0E-8AC8-6F1BA59B2012}" type="slidenum">
              <a:rPr kumimoji="1" lang="ja-JP" altLang="en-US" smtClean="0"/>
              <a:t>4</a:t>
            </a:fld>
            <a:endParaRPr kumimoji="1" lang="ja-JP" altLang="en-US"/>
          </a:p>
        </p:txBody>
      </p:sp>
    </p:spTree>
    <p:extLst>
      <p:ext uri="{BB962C8B-B14F-4D97-AF65-F5344CB8AC3E}">
        <p14:creationId xmlns:p14="http://schemas.microsoft.com/office/powerpoint/2010/main" val="1151606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3C643-4F48-2AB5-D878-E9D3B9BECA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04F84D-EC73-92AA-A8CC-372BB9F12275}"/>
              </a:ext>
            </a:extLst>
          </p:cNvPr>
          <p:cNvSpPr>
            <a:spLocks noGrp="1"/>
          </p:cNvSpPr>
          <p:nvPr>
            <p:ph type="title"/>
          </p:nvPr>
        </p:nvSpPr>
        <p:spPr/>
        <p:txBody>
          <a:bodyPr/>
          <a:lstStyle/>
          <a:p>
            <a:r>
              <a:rPr kumimoji="1" lang="en-US" altLang="ja-JP" dirty="0"/>
              <a:t>RVC</a:t>
            </a:r>
            <a:r>
              <a:rPr kumimoji="1" lang="ja-JP" altLang="en-US" dirty="0"/>
              <a:t>とは</a:t>
            </a:r>
          </a:p>
        </p:txBody>
      </p:sp>
      <p:sp>
        <p:nvSpPr>
          <p:cNvPr id="3" name="コンテンツ プレースホルダー 2">
            <a:extLst>
              <a:ext uri="{FF2B5EF4-FFF2-40B4-BE49-F238E27FC236}">
                <a16:creationId xmlns:a16="http://schemas.microsoft.com/office/drawing/2014/main" id="{802DA510-EBD5-4AFE-4AEB-B3A978C84DD0}"/>
              </a:ext>
            </a:extLst>
          </p:cNvPr>
          <p:cNvSpPr>
            <a:spLocks noGrp="1"/>
          </p:cNvSpPr>
          <p:nvPr>
            <p:ph idx="1"/>
          </p:nvPr>
        </p:nvSpPr>
        <p:spPr>
          <a:xfrm>
            <a:off x="838200" y="1825625"/>
            <a:ext cx="10777538" cy="4351338"/>
          </a:xfrm>
        </p:spPr>
        <p:txBody>
          <a:bodyPr>
            <a:normAutofit/>
          </a:bodyPr>
          <a:lstStyle/>
          <a:p>
            <a:r>
              <a:rPr lang="ja-JP" altLang="en-US" dirty="0"/>
              <a:t>特徴抽出</a:t>
            </a:r>
            <a:br>
              <a:rPr lang="en-US" altLang="ja-JP" dirty="0"/>
            </a:br>
            <a:r>
              <a:rPr lang="ja-JP" altLang="en-US" dirty="0"/>
              <a:t>入力音声から「声の高さ（ピッチ）」「発音の癖」「リズム」などの特徴を抽出</a:t>
            </a:r>
            <a:endParaRPr lang="en-US" altLang="ja-JP" dirty="0"/>
          </a:p>
          <a:p>
            <a:endParaRPr lang="en-US" altLang="ja-JP" dirty="0"/>
          </a:p>
          <a:p>
            <a:r>
              <a:rPr lang="ja-JP" altLang="en-US" dirty="0"/>
              <a:t>学習</a:t>
            </a:r>
            <a:br>
              <a:rPr lang="en-US" altLang="ja-JP" dirty="0"/>
            </a:br>
            <a:r>
              <a:rPr lang="ja-JP" altLang="en-US" dirty="0"/>
              <a:t>特定の話者の音声データを使って、当人の声質を学習させる</a:t>
            </a:r>
            <a:endParaRPr lang="en-US" altLang="ja-JP" dirty="0"/>
          </a:p>
          <a:p>
            <a:endParaRPr lang="en-US" altLang="ja-JP" dirty="0"/>
          </a:p>
          <a:p>
            <a:r>
              <a:rPr lang="ja-JP" altLang="en-US" dirty="0"/>
              <a:t>変換</a:t>
            </a:r>
            <a:br>
              <a:rPr lang="en-US" altLang="ja-JP" dirty="0"/>
            </a:br>
            <a:r>
              <a:rPr lang="ja-JP" altLang="en-US" dirty="0"/>
              <a:t>音声を入力し、学習済みモデルを通して別人の音声を生成する</a:t>
            </a:r>
            <a:endParaRPr lang="en-US" altLang="ja-JP" dirty="0"/>
          </a:p>
        </p:txBody>
      </p:sp>
      <p:sp>
        <p:nvSpPr>
          <p:cNvPr id="4" name="スライド番号プレースホルダー 3">
            <a:extLst>
              <a:ext uri="{FF2B5EF4-FFF2-40B4-BE49-F238E27FC236}">
                <a16:creationId xmlns:a16="http://schemas.microsoft.com/office/drawing/2014/main" id="{106A11A7-79F8-9FB2-5799-EE45464E6737}"/>
              </a:ext>
            </a:extLst>
          </p:cNvPr>
          <p:cNvSpPr>
            <a:spLocks noGrp="1"/>
          </p:cNvSpPr>
          <p:nvPr>
            <p:ph type="sldNum" sz="quarter" idx="12"/>
          </p:nvPr>
        </p:nvSpPr>
        <p:spPr/>
        <p:txBody>
          <a:bodyPr/>
          <a:lstStyle/>
          <a:p>
            <a:fld id="{FDD896F4-601B-4F0E-8AC8-6F1BA59B2012}" type="slidenum">
              <a:rPr kumimoji="1" lang="ja-JP" altLang="en-US" smtClean="0"/>
              <a:t>5</a:t>
            </a:fld>
            <a:endParaRPr kumimoji="1" lang="ja-JP" altLang="en-US"/>
          </a:p>
        </p:txBody>
      </p:sp>
    </p:spTree>
    <p:extLst>
      <p:ext uri="{BB962C8B-B14F-4D97-AF65-F5344CB8AC3E}">
        <p14:creationId xmlns:p14="http://schemas.microsoft.com/office/powerpoint/2010/main" val="3725648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AF886A39-E63F-1DD1-5387-A419D513EDD9}"/>
              </a:ext>
            </a:extLst>
          </p:cNvPr>
          <p:cNvSpPr/>
          <p:nvPr/>
        </p:nvSpPr>
        <p:spPr>
          <a:xfrm>
            <a:off x="1042989" y="1690687"/>
            <a:ext cx="7286624" cy="2338387"/>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AA2967AF-E920-C0AE-A291-377079E3C306}"/>
              </a:ext>
            </a:extLst>
          </p:cNvPr>
          <p:cNvSpPr>
            <a:spLocks noGrp="1"/>
          </p:cNvSpPr>
          <p:nvPr>
            <p:ph type="title"/>
          </p:nvPr>
        </p:nvSpPr>
        <p:spPr/>
        <p:txBody>
          <a:bodyPr/>
          <a:lstStyle/>
          <a:p>
            <a:r>
              <a:rPr kumimoji="1" lang="en-US" altLang="ja-JP" dirty="0"/>
              <a:t>RVC</a:t>
            </a:r>
            <a:r>
              <a:rPr kumimoji="1" lang="ja-JP" altLang="en-US" dirty="0"/>
              <a:t>とは</a:t>
            </a:r>
          </a:p>
        </p:txBody>
      </p:sp>
      <p:pic>
        <p:nvPicPr>
          <p:cNvPr id="6" name="グラフィックス 5" descr="音声 単色塗りつぶし">
            <a:extLst>
              <a:ext uri="{FF2B5EF4-FFF2-40B4-BE49-F238E27FC236}">
                <a16:creationId xmlns:a16="http://schemas.microsoft.com/office/drawing/2014/main" id="{2F489FD0-BB18-6585-1EBA-15B61FD6DD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14085" y="2263642"/>
            <a:ext cx="914400" cy="914400"/>
          </a:xfrm>
          <a:prstGeom prst="rect">
            <a:avLst/>
          </a:prstGeom>
        </p:spPr>
      </p:pic>
      <p:pic>
        <p:nvPicPr>
          <p:cNvPr id="1026" name="Picture 2" descr="RVC】VTuberのAIボイスチェンジャーの使い方について解説！ - VTuber-Guide">
            <a:extLst>
              <a:ext uri="{FF2B5EF4-FFF2-40B4-BE49-F238E27FC236}">
                <a16:creationId xmlns:a16="http://schemas.microsoft.com/office/drawing/2014/main" id="{9F2CA75D-F47C-C352-57E8-B3B26CA464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768" y="2190268"/>
            <a:ext cx="1945017" cy="1061149"/>
          </a:xfrm>
          <a:prstGeom prst="rect">
            <a:avLst/>
          </a:prstGeom>
          <a:noFill/>
          <a:extLst>
            <a:ext uri="{909E8E84-426E-40DD-AFC4-6F175D3DCCD1}">
              <a14:hiddenFill xmlns:a14="http://schemas.microsoft.com/office/drawing/2010/main">
                <a:solidFill>
                  <a:srgbClr val="FFFFFF"/>
                </a:solidFill>
              </a14:hiddenFill>
            </a:ext>
          </a:extLst>
        </p:spPr>
      </p:pic>
      <p:pic>
        <p:nvPicPr>
          <p:cNvPr id="7" name="グラフィックス 6" descr="ドキュメント 単色塗りつぶし">
            <a:extLst>
              <a:ext uri="{FF2B5EF4-FFF2-40B4-BE49-F238E27FC236}">
                <a16:creationId xmlns:a16="http://schemas.microsoft.com/office/drawing/2014/main" id="{40AC68F1-8A47-4EFC-BAD2-1B41E8F5595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76068" y="2362420"/>
            <a:ext cx="914400" cy="914400"/>
          </a:xfrm>
          <a:prstGeom prst="rect">
            <a:avLst/>
          </a:prstGeom>
        </p:spPr>
      </p:pic>
      <p:sp>
        <p:nvSpPr>
          <p:cNvPr id="8" name="正方形/長方形 7">
            <a:extLst>
              <a:ext uri="{FF2B5EF4-FFF2-40B4-BE49-F238E27FC236}">
                <a16:creationId xmlns:a16="http://schemas.microsoft.com/office/drawing/2014/main" id="{D68C9A4A-BA4F-2520-17C7-6E69841344EF}"/>
              </a:ext>
            </a:extLst>
          </p:cNvPr>
          <p:cNvSpPr/>
          <p:nvPr/>
        </p:nvSpPr>
        <p:spPr>
          <a:xfrm>
            <a:off x="3878591" y="4415187"/>
            <a:ext cx="7286623" cy="233838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グラフィックス 9" descr="音声 単色塗りつぶし">
            <a:extLst>
              <a:ext uri="{FF2B5EF4-FFF2-40B4-BE49-F238E27FC236}">
                <a16:creationId xmlns:a16="http://schemas.microsoft.com/office/drawing/2014/main" id="{64E02B93-7D2B-45CE-AA71-5E0AD3262AE6}"/>
              </a:ext>
            </a:extLst>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9507963" y="4917982"/>
            <a:ext cx="914400" cy="914400"/>
          </a:xfrm>
          <a:prstGeom prst="rect">
            <a:avLst/>
          </a:prstGeom>
        </p:spPr>
      </p:pic>
      <p:pic>
        <p:nvPicPr>
          <p:cNvPr id="11" name="Picture 2" descr="RVC】VTuberのAIボイスチェンジャーの使い方について解説！ - VTuber-Guide">
            <a:extLst>
              <a:ext uri="{FF2B5EF4-FFF2-40B4-BE49-F238E27FC236}">
                <a16:creationId xmlns:a16="http://schemas.microsoft.com/office/drawing/2014/main" id="{C4B66C38-3BB0-1350-D7CE-30A4A30359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0096" y="4765671"/>
            <a:ext cx="1945017" cy="1061149"/>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グループ化 16">
            <a:extLst>
              <a:ext uri="{FF2B5EF4-FFF2-40B4-BE49-F238E27FC236}">
                <a16:creationId xmlns:a16="http://schemas.microsoft.com/office/drawing/2014/main" id="{F6D8A040-2363-B8F7-44DC-C85884E93205}"/>
              </a:ext>
            </a:extLst>
          </p:cNvPr>
          <p:cNvGrpSpPr/>
          <p:nvPr/>
        </p:nvGrpSpPr>
        <p:grpSpPr>
          <a:xfrm>
            <a:off x="650082" y="1745281"/>
            <a:ext cx="785813" cy="2229198"/>
            <a:chOff x="566737" y="4524376"/>
            <a:chExt cx="785813" cy="2229198"/>
          </a:xfrm>
        </p:grpSpPr>
        <p:sp>
          <p:nvSpPr>
            <p:cNvPr id="16" name="四角形: 角を丸くする 2">
              <a:extLst>
                <a:ext uri="{FF2B5EF4-FFF2-40B4-BE49-F238E27FC236}">
                  <a16:creationId xmlns:a16="http://schemas.microsoft.com/office/drawing/2014/main" id="{B05B12DE-B9B8-3353-3157-F9BFAC8FEE10}"/>
                </a:ext>
              </a:extLst>
            </p:cNvPr>
            <p:cNvSpPr/>
            <p:nvPr/>
          </p:nvSpPr>
          <p:spPr>
            <a:xfrm>
              <a:off x="566737" y="4524376"/>
              <a:ext cx="785813" cy="2229198"/>
            </a:xfrm>
            <a:prstGeom prst="roundRect">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dirty="0">
                <a:solidFill>
                  <a:schemeClr val="tx1"/>
                </a:solidFill>
              </a:endParaRPr>
            </a:p>
          </p:txBody>
        </p:sp>
        <p:sp>
          <p:nvSpPr>
            <p:cNvPr id="15" name="テキスト ボックス 14">
              <a:extLst>
                <a:ext uri="{FF2B5EF4-FFF2-40B4-BE49-F238E27FC236}">
                  <a16:creationId xmlns:a16="http://schemas.microsoft.com/office/drawing/2014/main" id="{B43FD240-807E-7CB4-3C2C-A0DD4FE2C70C}"/>
                </a:ext>
              </a:extLst>
            </p:cNvPr>
            <p:cNvSpPr txBox="1"/>
            <p:nvPr/>
          </p:nvSpPr>
          <p:spPr>
            <a:xfrm>
              <a:off x="682644" y="4669479"/>
              <a:ext cx="553998" cy="1938992"/>
            </a:xfrm>
            <a:prstGeom prst="rect">
              <a:avLst/>
            </a:prstGeom>
            <a:noFill/>
          </p:spPr>
          <p:txBody>
            <a:bodyPr vert="eaVert" wrap="none" rtlCol="0">
              <a:spAutoFit/>
            </a:bodyPr>
            <a:lstStyle/>
            <a:p>
              <a:r>
                <a:rPr kumimoji="1" lang="ja-JP" altLang="en-US" sz="2400"/>
                <a:t>トレ</a:t>
              </a:r>
              <a:r>
                <a:rPr kumimoji="1" lang="en-US" altLang="ja-JP" sz="2400" dirty="0"/>
                <a:t>−</a:t>
              </a:r>
              <a:r>
                <a:rPr kumimoji="1" lang="ja-JP" altLang="en-US" sz="2400"/>
                <a:t>ニング</a:t>
              </a:r>
            </a:p>
          </p:txBody>
        </p:sp>
      </p:grpSp>
      <p:sp>
        <p:nvSpPr>
          <p:cNvPr id="18" name="テキスト ボックス 17">
            <a:extLst>
              <a:ext uri="{FF2B5EF4-FFF2-40B4-BE49-F238E27FC236}">
                <a16:creationId xmlns:a16="http://schemas.microsoft.com/office/drawing/2014/main" id="{F55263C9-542F-1C70-B3A2-6374363BA278}"/>
              </a:ext>
            </a:extLst>
          </p:cNvPr>
          <p:cNvSpPr txBox="1"/>
          <p:nvPr/>
        </p:nvSpPr>
        <p:spPr>
          <a:xfrm>
            <a:off x="1586455" y="3317080"/>
            <a:ext cx="1569660" cy="646331"/>
          </a:xfrm>
          <a:prstGeom prst="rect">
            <a:avLst/>
          </a:prstGeom>
          <a:noFill/>
        </p:spPr>
        <p:txBody>
          <a:bodyPr wrap="none" rtlCol="0">
            <a:spAutoFit/>
          </a:bodyPr>
          <a:lstStyle/>
          <a:p>
            <a:pPr algn="ctr"/>
            <a:r>
              <a:rPr lang="ja-JP" altLang="en-US"/>
              <a:t>学習サンプル</a:t>
            </a:r>
            <a:endParaRPr lang="en-US" altLang="ja-JP" dirty="0"/>
          </a:p>
          <a:p>
            <a:pPr algn="ctr"/>
            <a:r>
              <a:rPr kumimoji="1" lang="ja-JP" altLang="en-US"/>
              <a:t>話者</a:t>
            </a:r>
            <a:r>
              <a:rPr kumimoji="1" lang="en-US" altLang="ja-JP" dirty="0"/>
              <a:t>A</a:t>
            </a:r>
            <a:r>
              <a:rPr kumimoji="1" lang="ja-JP" altLang="en-US"/>
              <a:t>の音声</a:t>
            </a:r>
          </a:p>
        </p:txBody>
      </p:sp>
      <p:pic>
        <p:nvPicPr>
          <p:cNvPr id="20" name="グラフィックス 19" descr="矢印: 右回転 単色塗りつぶし">
            <a:extLst>
              <a:ext uri="{FF2B5EF4-FFF2-40B4-BE49-F238E27FC236}">
                <a16:creationId xmlns:a16="http://schemas.microsoft.com/office/drawing/2014/main" id="{5D136ABC-710C-0F4D-D920-1095DEA8643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20163224">
            <a:off x="8628500" y="4626167"/>
            <a:ext cx="914400" cy="914400"/>
          </a:xfrm>
          <a:prstGeom prst="rect">
            <a:avLst/>
          </a:prstGeom>
        </p:spPr>
      </p:pic>
      <p:pic>
        <p:nvPicPr>
          <p:cNvPr id="21" name="グラフィックス 20" descr="矢印: 右回転 単色塗りつぶし">
            <a:extLst>
              <a:ext uri="{FF2B5EF4-FFF2-40B4-BE49-F238E27FC236}">
                <a16:creationId xmlns:a16="http://schemas.microsoft.com/office/drawing/2014/main" id="{73F7F062-F01C-0DB8-FB10-E3AC81F22F8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20163224">
            <a:off x="3041570" y="2102771"/>
            <a:ext cx="914400" cy="914400"/>
          </a:xfrm>
          <a:prstGeom prst="rect">
            <a:avLst/>
          </a:prstGeom>
        </p:spPr>
      </p:pic>
      <p:sp>
        <p:nvSpPr>
          <p:cNvPr id="22" name="テキスト ボックス 21">
            <a:extLst>
              <a:ext uri="{FF2B5EF4-FFF2-40B4-BE49-F238E27FC236}">
                <a16:creationId xmlns:a16="http://schemas.microsoft.com/office/drawing/2014/main" id="{361C3880-F932-55DF-A991-9595F1CEB97A}"/>
              </a:ext>
            </a:extLst>
          </p:cNvPr>
          <p:cNvSpPr txBox="1"/>
          <p:nvPr/>
        </p:nvSpPr>
        <p:spPr>
          <a:xfrm>
            <a:off x="4322989" y="3427330"/>
            <a:ext cx="644728" cy="369332"/>
          </a:xfrm>
          <a:prstGeom prst="rect">
            <a:avLst/>
          </a:prstGeom>
          <a:noFill/>
        </p:spPr>
        <p:txBody>
          <a:bodyPr wrap="none" rtlCol="0">
            <a:spAutoFit/>
          </a:bodyPr>
          <a:lstStyle/>
          <a:p>
            <a:pPr algn="ctr"/>
            <a:r>
              <a:rPr lang="en-US" altLang="ja-JP" dirty="0"/>
              <a:t>RVC</a:t>
            </a:r>
            <a:endParaRPr kumimoji="1" lang="ja-JP" altLang="en-US"/>
          </a:p>
        </p:txBody>
      </p:sp>
      <p:sp>
        <p:nvSpPr>
          <p:cNvPr id="23" name="テキスト ボックス 22">
            <a:extLst>
              <a:ext uri="{FF2B5EF4-FFF2-40B4-BE49-F238E27FC236}">
                <a16:creationId xmlns:a16="http://schemas.microsoft.com/office/drawing/2014/main" id="{10D49998-6240-1559-B531-0E073493676D}"/>
              </a:ext>
            </a:extLst>
          </p:cNvPr>
          <p:cNvSpPr txBox="1"/>
          <p:nvPr/>
        </p:nvSpPr>
        <p:spPr>
          <a:xfrm>
            <a:off x="6273898" y="3427330"/>
            <a:ext cx="1718739" cy="369332"/>
          </a:xfrm>
          <a:prstGeom prst="rect">
            <a:avLst/>
          </a:prstGeom>
          <a:noFill/>
        </p:spPr>
        <p:txBody>
          <a:bodyPr wrap="none" rtlCol="0">
            <a:spAutoFit/>
          </a:bodyPr>
          <a:lstStyle/>
          <a:p>
            <a:pPr algn="ctr"/>
            <a:r>
              <a:rPr kumimoji="1" lang="ja-JP" altLang="en-US"/>
              <a:t>話者</a:t>
            </a:r>
            <a:r>
              <a:rPr kumimoji="1" lang="en-US" altLang="ja-JP" dirty="0"/>
              <a:t>A</a:t>
            </a:r>
            <a:r>
              <a:rPr kumimoji="1" lang="ja-JP" altLang="en-US"/>
              <a:t>のモデル</a:t>
            </a:r>
          </a:p>
        </p:txBody>
      </p:sp>
      <p:grpSp>
        <p:nvGrpSpPr>
          <p:cNvPr id="25" name="グループ化 24">
            <a:extLst>
              <a:ext uri="{FF2B5EF4-FFF2-40B4-BE49-F238E27FC236}">
                <a16:creationId xmlns:a16="http://schemas.microsoft.com/office/drawing/2014/main" id="{093C3234-3B1C-29F9-08BC-315ADB136CE1}"/>
              </a:ext>
            </a:extLst>
          </p:cNvPr>
          <p:cNvGrpSpPr/>
          <p:nvPr/>
        </p:nvGrpSpPr>
        <p:grpSpPr>
          <a:xfrm>
            <a:off x="3480568" y="4765671"/>
            <a:ext cx="785813" cy="1637417"/>
            <a:chOff x="650082" y="4249032"/>
            <a:chExt cx="785813" cy="1637417"/>
          </a:xfrm>
        </p:grpSpPr>
        <p:sp>
          <p:nvSpPr>
            <p:cNvPr id="9" name="四角形: 角を丸くする 2">
              <a:extLst>
                <a:ext uri="{FF2B5EF4-FFF2-40B4-BE49-F238E27FC236}">
                  <a16:creationId xmlns:a16="http://schemas.microsoft.com/office/drawing/2014/main" id="{E7C4FE25-9DAF-C14E-2211-FFDE084A3EE6}"/>
                </a:ext>
              </a:extLst>
            </p:cNvPr>
            <p:cNvSpPr/>
            <p:nvPr/>
          </p:nvSpPr>
          <p:spPr>
            <a:xfrm>
              <a:off x="650082" y="4249032"/>
              <a:ext cx="785813" cy="1637417"/>
            </a:xfrm>
            <a:prstGeom prst="roundRect">
              <a:avLst/>
            </a:prstGeom>
            <a:solidFill>
              <a:schemeClr val="tx2">
                <a:lumMod val="10000"/>
                <a:lumOff val="9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dirty="0">
                <a:solidFill>
                  <a:schemeClr val="tx1"/>
                </a:solidFill>
              </a:endParaRPr>
            </a:p>
          </p:txBody>
        </p:sp>
        <p:sp>
          <p:nvSpPr>
            <p:cNvPr id="24" name="テキスト ボックス 23">
              <a:extLst>
                <a:ext uri="{FF2B5EF4-FFF2-40B4-BE49-F238E27FC236}">
                  <a16:creationId xmlns:a16="http://schemas.microsoft.com/office/drawing/2014/main" id="{BC67C1D1-1542-200B-4154-83EF4C76D900}"/>
                </a:ext>
              </a:extLst>
            </p:cNvPr>
            <p:cNvSpPr txBox="1"/>
            <p:nvPr/>
          </p:nvSpPr>
          <p:spPr>
            <a:xfrm>
              <a:off x="765989" y="4415187"/>
              <a:ext cx="553998" cy="1323439"/>
            </a:xfrm>
            <a:prstGeom prst="rect">
              <a:avLst/>
            </a:prstGeom>
            <a:noFill/>
          </p:spPr>
          <p:txBody>
            <a:bodyPr vert="eaVert" wrap="none" rtlCol="0">
              <a:spAutoFit/>
            </a:bodyPr>
            <a:lstStyle/>
            <a:p>
              <a:r>
                <a:rPr kumimoji="1" lang="ja-JP" altLang="en-US" sz="2400"/>
                <a:t>音声変換</a:t>
              </a:r>
            </a:p>
          </p:txBody>
        </p:sp>
      </p:grpSp>
      <p:sp>
        <p:nvSpPr>
          <p:cNvPr id="26" name="テキスト ボックス 25">
            <a:extLst>
              <a:ext uri="{FF2B5EF4-FFF2-40B4-BE49-F238E27FC236}">
                <a16:creationId xmlns:a16="http://schemas.microsoft.com/office/drawing/2014/main" id="{CAA7BA0B-20BE-7A2A-E533-08289F3FF808}"/>
              </a:ext>
            </a:extLst>
          </p:cNvPr>
          <p:cNvSpPr txBox="1"/>
          <p:nvPr/>
        </p:nvSpPr>
        <p:spPr>
          <a:xfrm>
            <a:off x="7470240" y="6218422"/>
            <a:ext cx="644728" cy="369332"/>
          </a:xfrm>
          <a:prstGeom prst="rect">
            <a:avLst/>
          </a:prstGeom>
          <a:noFill/>
        </p:spPr>
        <p:txBody>
          <a:bodyPr wrap="none" rtlCol="0">
            <a:spAutoFit/>
          </a:bodyPr>
          <a:lstStyle/>
          <a:p>
            <a:pPr algn="ctr"/>
            <a:r>
              <a:rPr lang="en-US" altLang="ja-JP" dirty="0"/>
              <a:t>RVC</a:t>
            </a:r>
            <a:endParaRPr kumimoji="1" lang="ja-JP" altLang="en-US"/>
          </a:p>
        </p:txBody>
      </p:sp>
      <p:pic>
        <p:nvPicPr>
          <p:cNvPr id="28" name="グラフィックス 27" descr="音声 枠線">
            <a:extLst>
              <a:ext uri="{FF2B5EF4-FFF2-40B4-BE49-F238E27FC236}">
                <a16:creationId xmlns:a16="http://schemas.microsoft.com/office/drawing/2014/main" id="{7D2AC21E-3E46-BF95-5D86-2067B8BAEAF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75389" y="4911048"/>
            <a:ext cx="914400" cy="914400"/>
          </a:xfrm>
          <a:prstGeom prst="rect">
            <a:avLst/>
          </a:prstGeom>
        </p:spPr>
      </p:pic>
      <p:sp>
        <p:nvSpPr>
          <p:cNvPr id="29" name="テキスト ボックス 28">
            <a:extLst>
              <a:ext uri="{FF2B5EF4-FFF2-40B4-BE49-F238E27FC236}">
                <a16:creationId xmlns:a16="http://schemas.microsoft.com/office/drawing/2014/main" id="{57F0E9EA-720C-DE60-4F87-CFFB5808BF9E}"/>
              </a:ext>
            </a:extLst>
          </p:cNvPr>
          <p:cNvSpPr txBox="1"/>
          <p:nvPr/>
        </p:nvSpPr>
        <p:spPr>
          <a:xfrm>
            <a:off x="4461515" y="6018504"/>
            <a:ext cx="1495922" cy="646331"/>
          </a:xfrm>
          <a:prstGeom prst="rect">
            <a:avLst/>
          </a:prstGeom>
          <a:noFill/>
        </p:spPr>
        <p:txBody>
          <a:bodyPr wrap="none" rtlCol="0">
            <a:spAutoFit/>
          </a:bodyPr>
          <a:lstStyle/>
          <a:p>
            <a:pPr algn="ctr"/>
            <a:r>
              <a:rPr lang="ja-JP" altLang="en-US"/>
              <a:t>変換対象</a:t>
            </a:r>
            <a:endParaRPr lang="en-US" altLang="ja-JP" dirty="0"/>
          </a:p>
          <a:p>
            <a:pPr algn="ctr"/>
            <a:r>
              <a:rPr lang="ja-JP" altLang="en-US"/>
              <a:t>話者</a:t>
            </a:r>
            <a:r>
              <a:rPr lang="en-US" altLang="ja-JP" dirty="0"/>
              <a:t>B</a:t>
            </a:r>
            <a:r>
              <a:rPr lang="ja-JP" altLang="en-US"/>
              <a:t>の音声</a:t>
            </a:r>
          </a:p>
        </p:txBody>
      </p:sp>
      <p:pic>
        <p:nvPicPr>
          <p:cNvPr id="30" name="グラフィックス 29" descr="矢印: 右回転 単色塗りつぶし">
            <a:extLst>
              <a:ext uri="{FF2B5EF4-FFF2-40B4-BE49-F238E27FC236}">
                <a16:creationId xmlns:a16="http://schemas.microsoft.com/office/drawing/2014/main" id="{B89DCE72-04D6-A7BA-66D7-3EA2795C2CD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20163224">
            <a:off x="5945570" y="4679144"/>
            <a:ext cx="914400" cy="914400"/>
          </a:xfrm>
          <a:prstGeom prst="rect">
            <a:avLst/>
          </a:prstGeom>
        </p:spPr>
      </p:pic>
      <p:pic>
        <p:nvPicPr>
          <p:cNvPr id="31" name="グラフィックス 30" descr="矢印: 右回転 単色塗りつぶし">
            <a:extLst>
              <a:ext uri="{FF2B5EF4-FFF2-40B4-BE49-F238E27FC236}">
                <a16:creationId xmlns:a16="http://schemas.microsoft.com/office/drawing/2014/main" id="{BE08B337-906B-9730-9335-E29F7FBD643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20163224">
            <a:off x="5947895" y="2189000"/>
            <a:ext cx="914400" cy="914400"/>
          </a:xfrm>
          <a:prstGeom prst="rect">
            <a:avLst/>
          </a:prstGeom>
        </p:spPr>
      </p:pic>
      <p:sp>
        <p:nvSpPr>
          <p:cNvPr id="32" name="テキスト ボックス 31">
            <a:extLst>
              <a:ext uri="{FF2B5EF4-FFF2-40B4-BE49-F238E27FC236}">
                <a16:creationId xmlns:a16="http://schemas.microsoft.com/office/drawing/2014/main" id="{DAFFC7A5-B964-EE5C-BD7C-862B15E800A3}"/>
              </a:ext>
            </a:extLst>
          </p:cNvPr>
          <p:cNvSpPr txBox="1"/>
          <p:nvPr/>
        </p:nvSpPr>
        <p:spPr>
          <a:xfrm>
            <a:off x="9180333" y="6218422"/>
            <a:ext cx="1569660" cy="369332"/>
          </a:xfrm>
          <a:prstGeom prst="rect">
            <a:avLst/>
          </a:prstGeom>
          <a:noFill/>
        </p:spPr>
        <p:txBody>
          <a:bodyPr wrap="none" rtlCol="0">
            <a:spAutoFit/>
          </a:bodyPr>
          <a:lstStyle/>
          <a:p>
            <a:pPr algn="ctr"/>
            <a:r>
              <a:rPr lang="ja-JP" altLang="en-US"/>
              <a:t>変換後の音声</a:t>
            </a:r>
            <a:endParaRPr lang="en-US" altLang="ja-JP" dirty="0"/>
          </a:p>
        </p:txBody>
      </p:sp>
      <p:pic>
        <p:nvPicPr>
          <p:cNvPr id="34" name="グラフィックス 33" descr="矢印: 緩い曲線 単色塗りつぶし">
            <a:extLst>
              <a:ext uri="{FF2B5EF4-FFF2-40B4-BE49-F238E27FC236}">
                <a16:creationId xmlns:a16="http://schemas.microsoft.com/office/drawing/2014/main" id="{149E5DA1-667A-4261-BF44-AA9C93AC065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rot="4643520">
            <a:off x="6658550" y="3802840"/>
            <a:ext cx="914400" cy="914400"/>
          </a:xfrm>
          <a:prstGeom prst="rect">
            <a:avLst/>
          </a:prstGeom>
        </p:spPr>
      </p:pic>
      <p:sp>
        <p:nvSpPr>
          <p:cNvPr id="3" name="スライド番号プレースホルダー 2">
            <a:extLst>
              <a:ext uri="{FF2B5EF4-FFF2-40B4-BE49-F238E27FC236}">
                <a16:creationId xmlns:a16="http://schemas.microsoft.com/office/drawing/2014/main" id="{33A10E43-E611-21BE-6DAD-D6187630B34E}"/>
              </a:ext>
            </a:extLst>
          </p:cNvPr>
          <p:cNvSpPr>
            <a:spLocks noGrp="1"/>
          </p:cNvSpPr>
          <p:nvPr>
            <p:ph type="sldNum" sz="quarter" idx="12"/>
          </p:nvPr>
        </p:nvSpPr>
        <p:spPr/>
        <p:txBody>
          <a:bodyPr/>
          <a:lstStyle/>
          <a:p>
            <a:fld id="{FDD896F4-601B-4F0E-8AC8-6F1BA59B2012}" type="slidenum">
              <a:rPr kumimoji="1" lang="ja-JP" altLang="en-US" smtClean="0"/>
              <a:t>6</a:t>
            </a:fld>
            <a:endParaRPr kumimoji="1" lang="ja-JP" altLang="en-US"/>
          </a:p>
        </p:txBody>
      </p:sp>
    </p:spTree>
    <p:extLst>
      <p:ext uri="{BB962C8B-B14F-4D97-AF65-F5344CB8AC3E}">
        <p14:creationId xmlns:p14="http://schemas.microsoft.com/office/powerpoint/2010/main" val="1902987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C4B9F0-8071-6886-DE6D-5A3968FF3350}"/>
              </a:ext>
            </a:extLst>
          </p:cNvPr>
          <p:cNvSpPr>
            <a:spLocks noGrp="1"/>
          </p:cNvSpPr>
          <p:nvPr>
            <p:ph type="title"/>
          </p:nvPr>
        </p:nvSpPr>
        <p:spPr/>
        <p:txBody>
          <a:bodyPr/>
          <a:lstStyle/>
          <a:p>
            <a:r>
              <a:rPr kumimoji="1" lang="en-US" altLang="ja-JP" dirty="0"/>
              <a:t>RVC</a:t>
            </a:r>
            <a:r>
              <a:rPr kumimoji="1" lang="ja-JP" altLang="en-US" dirty="0"/>
              <a:t>の導入方法</a:t>
            </a:r>
          </a:p>
        </p:txBody>
      </p:sp>
      <p:sp>
        <p:nvSpPr>
          <p:cNvPr id="3" name="テキスト プレースホルダー 2">
            <a:extLst>
              <a:ext uri="{FF2B5EF4-FFF2-40B4-BE49-F238E27FC236}">
                <a16:creationId xmlns:a16="http://schemas.microsoft.com/office/drawing/2014/main" id="{EF0D8D20-0EF8-E392-1CBB-E479F27B25D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8A634D0-3177-0171-AFC2-62EB369B901F}"/>
              </a:ext>
            </a:extLst>
          </p:cNvPr>
          <p:cNvSpPr>
            <a:spLocks noGrp="1"/>
          </p:cNvSpPr>
          <p:nvPr>
            <p:ph type="sldNum" sz="quarter" idx="12"/>
          </p:nvPr>
        </p:nvSpPr>
        <p:spPr/>
        <p:txBody>
          <a:bodyPr/>
          <a:lstStyle/>
          <a:p>
            <a:fld id="{FDD896F4-601B-4F0E-8AC8-6F1BA59B2012}" type="slidenum">
              <a:rPr kumimoji="1" lang="ja-JP" altLang="en-US" smtClean="0"/>
              <a:t>7</a:t>
            </a:fld>
            <a:endParaRPr kumimoji="1" lang="ja-JP" altLang="en-US"/>
          </a:p>
        </p:txBody>
      </p:sp>
    </p:spTree>
    <p:extLst>
      <p:ext uri="{BB962C8B-B14F-4D97-AF65-F5344CB8AC3E}">
        <p14:creationId xmlns:p14="http://schemas.microsoft.com/office/powerpoint/2010/main" val="1556120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23E032-14C6-DF9D-835C-4FCDDCE65DF2}"/>
              </a:ext>
            </a:extLst>
          </p:cNvPr>
          <p:cNvSpPr>
            <a:spLocks noGrp="1"/>
          </p:cNvSpPr>
          <p:nvPr>
            <p:ph type="title"/>
          </p:nvPr>
        </p:nvSpPr>
        <p:spPr/>
        <p:txBody>
          <a:bodyPr/>
          <a:lstStyle/>
          <a:p>
            <a:r>
              <a:rPr lang="ja-JP" altLang="en-US" dirty="0"/>
              <a:t>使用するツール</a:t>
            </a:r>
            <a:endParaRPr kumimoji="1" lang="ja-JP" altLang="en-US" dirty="0"/>
          </a:p>
        </p:txBody>
      </p:sp>
      <p:sp>
        <p:nvSpPr>
          <p:cNvPr id="3" name="コンテンツ プレースホルダー 2">
            <a:extLst>
              <a:ext uri="{FF2B5EF4-FFF2-40B4-BE49-F238E27FC236}">
                <a16:creationId xmlns:a16="http://schemas.microsoft.com/office/drawing/2014/main" id="{9B8DA190-F291-EE94-55F7-903DA6C94CAF}"/>
              </a:ext>
            </a:extLst>
          </p:cNvPr>
          <p:cNvSpPr>
            <a:spLocks noGrp="1"/>
          </p:cNvSpPr>
          <p:nvPr>
            <p:ph idx="1"/>
          </p:nvPr>
        </p:nvSpPr>
        <p:spPr/>
        <p:txBody>
          <a:bodyPr/>
          <a:lstStyle/>
          <a:p>
            <a:r>
              <a:rPr kumimoji="1" lang="en-US" altLang="ja-JP" dirty="0"/>
              <a:t>OS</a:t>
            </a:r>
            <a:r>
              <a:rPr lang="ja-JP" altLang="en-US" dirty="0"/>
              <a:t>：</a:t>
            </a:r>
            <a:r>
              <a:rPr kumimoji="1" lang="en-US" altLang="ja-JP" dirty="0"/>
              <a:t>Windows10</a:t>
            </a:r>
            <a:r>
              <a:rPr kumimoji="1" lang="ja-JP" altLang="en-US" dirty="0"/>
              <a:t>、</a:t>
            </a:r>
            <a:r>
              <a:rPr kumimoji="1" lang="en-US" altLang="ja-JP" dirty="0"/>
              <a:t>11</a:t>
            </a:r>
          </a:p>
          <a:p>
            <a:r>
              <a:rPr lang="en-US" altLang="ja-JP" dirty="0"/>
              <a:t>GPU</a:t>
            </a:r>
            <a:r>
              <a:rPr lang="ja-JP" altLang="en-US" dirty="0"/>
              <a:t>：</a:t>
            </a:r>
            <a:r>
              <a:rPr lang="en-US" altLang="ja-JP" dirty="0"/>
              <a:t>NVIDIA</a:t>
            </a:r>
            <a:r>
              <a:rPr lang="ja-JP" altLang="en-US" dirty="0"/>
              <a:t>　</a:t>
            </a:r>
            <a:r>
              <a:rPr lang="en-US" altLang="ja-JP" dirty="0"/>
              <a:t>RTX30</a:t>
            </a:r>
            <a:r>
              <a:rPr lang="ja-JP" altLang="en-US" dirty="0"/>
              <a:t>○○　</a:t>
            </a:r>
            <a:r>
              <a:rPr lang="en-US" altLang="ja-JP" dirty="0"/>
              <a:t>or</a:t>
            </a:r>
            <a:r>
              <a:rPr lang="ja-JP" altLang="en-US" dirty="0"/>
              <a:t>　</a:t>
            </a:r>
            <a:r>
              <a:rPr lang="en-US" altLang="ja-JP" dirty="0"/>
              <a:t>RTX40</a:t>
            </a:r>
            <a:r>
              <a:rPr lang="ja-JP" altLang="en-US" dirty="0"/>
              <a:t>○○</a:t>
            </a:r>
            <a:endParaRPr lang="en-US" altLang="ja-JP" dirty="0"/>
          </a:p>
          <a:p>
            <a:r>
              <a:rPr kumimoji="1" lang="en-US" altLang="ja-JP" dirty="0"/>
              <a:t>Python 3.8 </a:t>
            </a:r>
            <a:r>
              <a:rPr kumimoji="1" lang="ja-JP" altLang="en-US" dirty="0"/>
              <a:t>～ </a:t>
            </a:r>
            <a:r>
              <a:rPr lang="en-US" altLang="ja-JP" dirty="0"/>
              <a:t>3.10</a:t>
            </a:r>
          </a:p>
          <a:p>
            <a:r>
              <a:rPr lang="en-US" altLang="ja-JP" dirty="0"/>
              <a:t>RVC-beta0717</a:t>
            </a:r>
          </a:p>
          <a:p>
            <a:r>
              <a:rPr lang="en-US" altLang="ja-JP" dirty="0"/>
              <a:t>7-Zip File Manager</a:t>
            </a:r>
          </a:p>
        </p:txBody>
      </p:sp>
      <p:sp>
        <p:nvSpPr>
          <p:cNvPr id="4" name="スライド番号プレースホルダー 3">
            <a:extLst>
              <a:ext uri="{FF2B5EF4-FFF2-40B4-BE49-F238E27FC236}">
                <a16:creationId xmlns:a16="http://schemas.microsoft.com/office/drawing/2014/main" id="{294D7EF8-94F0-3BF1-4291-3256B2236DA5}"/>
              </a:ext>
            </a:extLst>
          </p:cNvPr>
          <p:cNvSpPr>
            <a:spLocks noGrp="1"/>
          </p:cNvSpPr>
          <p:nvPr>
            <p:ph type="sldNum" sz="quarter" idx="12"/>
          </p:nvPr>
        </p:nvSpPr>
        <p:spPr/>
        <p:txBody>
          <a:bodyPr/>
          <a:lstStyle/>
          <a:p>
            <a:fld id="{FDD896F4-601B-4F0E-8AC8-6F1BA59B2012}" type="slidenum">
              <a:rPr kumimoji="1" lang="ja-JP" altLang="en-US" smtClean="0"/>
              <a:t>8</a:t>
            </a:fld>
            <a:endParaRPr kumimoji="1" lang="ja-JP" altLang="en-US"/>
          </a:p>
        </p:txBody>
      </p:sp>
    </p:spTree>
    <p:extLst>
      <p:ext uri="{BB962C8B-B14F-4D97-AF65-F5344CB8AC3E}">
        <p14:creationId xmlns:p14="http://schemas.microsoft.com/office/powerpoint/2010/main" val="1779623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1DAA1-7955-C82F-C953-EACD09EDB8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8AE776-A3B3-C4F9-9D43-E26A5326B9A0}"/>
              </a:ext>
            </a:extLst>
          </p:cNvPr>
          <p:cNvSpPr>
            <a:spLocks noGrp="1"/>
          </p:cNvSpPr>
          <p:nvPr>
            <p:ph type="title"/>
          </p:nvPr>
        </p:nvSpPr>
        <p:spPr/>
        <p:txBody>
          <a:bodyPr/>
          <a:lstStyle/>
          <a:p>
            <a:r>
              <a:rPr lang="en-US" altLang="ja-JP" dirty="0"/>
              <a:t>Python</a:t>
            </a:r>
            <a:r>
              <a:rPr lang="ja-JP" altLang="en-US" dirty="0"/>
              <a:t>のダウンロード</a:t>
            </a:r>
            <a:endParaRPr kumimoji="1" lang="ja-JP" altLang="en-US" dirty="0"/>
          </a:p>
        </p:txBody>
      </p:sp>
      <p:sp>
        <p:nvSpPr>
          <p:cNvPr id="3" name="コンテンツ プレースホルダー 2">
            <a:extLst>
              <a:ext uri="{FF2B5EF4-FFF2-40B4-BE49-F238E27FC236}">
                <a16:creationId xmlns:a16="http://schemas.microsoft.com/office/drawing/2014/main" id="{EAEB4EC4-50C5-0D57-68EE-9889BB8B3F55}"/>
              </a:ext>
            </a:extLst>
          </p:cNvPr>
          <p:cNvSpPr>
            <a:spLocks noGrp="1"/>
          </p:cNvSpPr>
          <p:nvPr>
            <p:ph idx="1"/>
          </p:nvPr>
        </p:nvSpPr>
        <p:spPr>
          <a:xfrm>
            <a:off x="838200" y="1825625"/>
            <a:ext cx="5083512" cy="4351338"/>
          </a:xfrm>
        </p:spPr>
        <p:txBody>
          <a:bodyPr>
            <a:normAutofit/>
          </a:bodyPr>
          <a:lstStyle/>
          <a:p>
            <a:r>
              <a:rPr lang="en-US" altLang="ja-JP" sz="2400" dirty="0"/>
              <a:t>RVC</a:t>
            </a:r>
            <a:r>
              <a:rPr lang="ja-JP" altLang="en-US" sz="2400" dirty="0"/>
              <a:t>は</a:t>
            </a:r>
            <a:r>
              <a:rPr lang="en-US" altLang="ja-JP" sz="2400" dirty="0"/>
              <a:t>Python</a:t>
            </a:r>
            <a:r>
              <a:rPr lang="ja-JP" altLang="en-US" sz="2400" dirty="0"/>
              <a:t>環境で実行する</a:t>
            </a:r>
            <a:br>
              <a:rPr lang="en-US" altLang="ja-JP" sz="2400" dirty="0"/>
            </a:br>
            <a:r>
              <a:rPr lang="ja-JP" altLang="en-US" sz="2400" dirty="0"/>
              <a:t>必要がある</a:t>
            </a:r>
            <a:endParaRPr lang="en-US" altLang="ja-JP" sz="2400" dirty="0"/>
          </a:p>
          <a:p>
            <a:endParaRPr lang="en-US" altLang="ja-JP" sz="2400" dirty="0"/>
          </a:p>
          <a:p>
            <a:r>
              <a:rPr lang="ja-JP" altLang="en-US" sz="2400" dirty="0"/>
              <a:t>以下のサイトより</a:t>
            </a:r>
            <a:br>
              <a:rPr lang="en-US" altLang="ja-JP" sz="2400" dirty="0"/>
            </a:br>
            <a:r>
              <a:rPr lang="en-US" altLang="ja-JP" sz="2400" dirty="0"/>
              <a:t>Python</a:t>
            </a:r>
            <a:r>
              <a:rPr lang="ja-JP" altLang="en-US" sz="2400" dirty="0"/>
              <a:t>をダウンロード</a:t>
            </a:r>
            <a:br>
              <a:rPr lang="en-US" altLang="ja-JP" sz="2400" dirty="0"/>
            </a:br>
            <a:br>
              <a:rPr lang="en-US" altLang="ja-JP" sz="2400" dirty="0"/>
            </a:br>
            <a:r>
              <a:rPr lang="en-US" altLang="ja-JP" sz="2400" dirty="0">
                <a:hlinkClick r:id="rId2"/>
              </a:rPr>
              <a:t>https://www.python.org/downloads/windows/</a:t>
            </a:r>
            <a:br>
              <a:rPr lang="en-US" altLang="ja-JP" sz="2400" dirty="0"/>
            </a:br>
            <a:br>
              <a:rPr lang="en-US" altLang="ja-JP" sz="2400" dirty="0"/>
            </a:br>
            <a:r>
              <a:rPr lang="en-US" altLang="ja-JP" sz="2400" dirty="0"/>
              <a:t>※ Python 3.10</a:t>
            </a:r>
            <a:r>
              <a:rPr lang="ja-JP" altLang="en-US" sz="2400" dirty="0"/>
              <a:t>以降だとエラーが出る場合があるとのこと</a:t>
            </a:r>
            <a:endParaRPr lang="en-US" altLang="ja-JP" sz="2400" dirty="0"/>
          </a:p>
        </p:txBody>
      </p:sp>
      <p:grpSp>
        <p:nvGrpSpPr>
          <p:cNvPr id="13" name="グループ化 12">
            <a:extLst>
              <a:ext uri="{FF2B5EF4-FFF2-40B4-BE49-F238E27FC236}">
                <a16:creationId xmlns:a16="http://schemas.microsoft.com/office/drawing/2014/main" id="{57C894E8-377B-4643-01EF-58FCA33B7E54}"/>
              </a:ext>
            </a:extLst>
          </p:cNvPr>
          <p:cNvGrpSpPr/>
          <p:nvPr/>
        </p:nvGrpSpPr>
        <p:grpSpPr>
          <a:xfrm>
            <a:off x="6096000" y="1825625"/>
            <a:ext cx="5596520" cy="4351338"/>
            <a:chOff x="5921713" y="1825625"/>
            <a:chExt cx="5596520" cy="4351338"/>
          </a:xfrm>
        </p:grpSpPr>
        <p:pic>
          <p:nvPicPr>
            <p:cNvPr id="5" name="図 4">
              <a:extLst>
                <a:ext uri="{FF2B5EF4-FFF2-40B4-BE49-F238E27FC236}">
                  <a16:creationId xmlns:a16="http://schemas.microsoft.com/office/drawing/2014/main" id="{847B4392-D96C-7567-4686-6B9DD59054DA}"/>
                </a:ext>
              </a:extLst>
            </p:cNvPr>
            <p:cNvPicPr>
              <a:picLocks noChangeAspect="1"/>
            </p:cNvPicPr>
            <p:nvPr/>
          </p:nvPicPr>
          <p:blipFill>
            <a:blip r:embed="rId3">
              <a:extLst>
                <a:ext uri="{28A0092B-C50C-407E-A947-70E740481C1C}">
                  <a14:useLocalDpi xmlns:a14="http://schemas.microsoft.com/office/drawing/2010/main" val="0"/>
                </a:ext>
              </a:extLst>
            </a:blip>
            <a:srcRect r="25626"/>
            <a:stretch>
              <a:fillRect/>
            </a:stretch>
          </p:blipFill>
          <p:spPr>
            <a:xfrm>
              <a:off x="5921713" y="1825625"/>
              <a:ext cx="5596520" cy="4351338"/>
            </a:xfrm>
            <a:prstGeom prst="rect">
              <a:avLst/>
            </a:prstGeom>
          </p:spPr>
        </p:pic>
        <p:sp>
          <p:nvSpPr>
            <p:cNvPr id="6" name="正方形/長方形 5">
              <a:extLst>
                <a:ext uri="{FF2B5EF4-FFF2-40B4-BE49-F238E27FC236}">
                  <a16:creationId xmlns:a16="http://schemas.microsoft.com/office/drawing/2014/main" id="{36D5D9A2-711D-46B3-837C-DC8E8C308955}"/>
                </a:ext>
              </a:extLst>
            </p:cNvPr>
            <p:cNvSpPr/>
            <p:nvPr/>
          </p:nvSpPr>
          <p:spPr>
            <a:xfrm>
              <a:off x="6257924" y="3186113"/>
              <a:ext cx="2928938" cy="3428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5C31BC53-BAC4-0782-186A-5587C3A5EBF6}"/>
                </a:ext>
              </a:extLst>
            </p:cNvPr>
            <p:cNvCxnSpPr>
              <a:cxnSpLocks/>
            </p:cNvCxnSpPr>
            <p:nvPr/>
          </p:nvCxnSpPr>
          <p:spPr>
            <a:xfrm>
              <a:off x="6239127" y="2675519"/>
              <a:ext cx="2054641"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4" name="スライド番号プレースホルダー 3">
            <a:extLst>
              <a:ext uri="{FF2B5EF4-FFF2-40B4-BE49-F238E27FC236}">
                <a16:creationId xmlns:a16="http://schemas.microsoft.com/office/drawing/2014/main" id="{7D7B657C-3225-6C79-4166-BD40C06B3089}"/>
              </a:ext>
            </a:extLst>
          </p:cNvPr>
          <p:cNvSpPr>
            <a:spLocks noGrp="1"/>
          </p:cNvSpPr>
          <p:nvPr>
            <p:ph type="sldNum" sz="quarter" idx="12"/>
          </p:nvPr>
        </p:nvSpPr>
        <p:spPr/>
        <p:txBody>
          <a:bodyPr/>
          <a:lstStyle/>
          <a:p>
            <a:fld id="{FDD896F4-601B-4F0E-8AC8-6F1BA59B2012}" type="slidenum">
              <a:rPr kumimoji="1" lang="ja-JP" altLang="en-US" smtClean="0"/>
              <a:t>9</a:t>
            </a:fld>
            <a:endParaRPr kumimoji="1" lang="ja-JP" altLang="en-US"/>
          </a:p>
        </p:txBody>
      </p:sp>
    </p:spTree>
    <p:extLst>
      <p:ext uri="{BB962C8B-B14F-4D97-AF65-F5344CB8AC3E}">
        <p14:creationId xmlns:p14="http://schemas.microsoft.com/office/powerpoint/2010/main" val="3047098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6AFEF-0DAD-D925-8596-494F250147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1E4A41-F9AD-C629-4090-7064920208DA}"/>
              </a:ext>
            </a:extLst>
          </p:cNvPr>
          <p:cNvSpPr>
            <a:spLocks noGrp="1"/>
          </p:cNvSpPr>
          <p:nvPr>
            <p:ph type="title"/>
          </p:nvPr>
        </p:nvSpPr>
        <p:spPr/>
        <p:txBody>
          <a:bodyPr/>
          <a:lstStyle/>
          <a:p>
            <a:r>
              <a:rPr lang="en-US" altLang="ja-JP" dirty="0"/>
              <a:t>RVC-beta0717</a:t>
            </a:r>
            <a:r>
              <a:rPr lang="ja-JP" altLang="en-US" dirty="0"/>
              <a:t>のダウンロード</a:t>
            </a:r>
            <a:endParaRPr kumimoji="1" lang="ja-JP" altLang="en-US" dirty="0"/>
          </a:p>
        </p:txBody>
      </p:sp>
      <p:sp>
        <p:nvSpPr>
          <p:cNvPr id="3" name="コンテンツ プレースホルダー 2">
            <a:extLst>
              <a:ext uri="{FF2B5EF4-FFF2-40B4-BE49-F238E27FC236}">
                <a16:creationId xmlns:a16="http://schemas.microsoft.com/office/drawing/2014/main" id="{6C5D19EE-4547-01D6-A12A-0ABE7B28B4E9}"/>
              </a:ext>
            </a:extLst>
          </p:cNvPr>
          <p:cNvSpPr>
            <a:spLocks noGrp="1"/>
          </p:cNvSpPr>
          <p:nvPr>
            <p:ph idx="1"/>
          </p:nvPr>
        </p:nvSpPr>
        <p:spPr>
          <a:xfrm>
            <a:off x="838200" y="1825625"/>
            <a:ext cx="5706980" cy="4351338"/>
          </a:xfrm>
        </p:spPr>
        <p:txBody>
          <a:bodyPr>
            <a:normAutofit/>
          </a:bodyPr>
          <a:lstStyle/>
          <a:p>
            <a:r>
              <a:rPr lang="ja-JP" altLang="en-US" sz="2400" dirty="0"/>
              <a:t>以下のサイトより</a:t>
            </a:r>
            <a:r>
              <a:rPr lang="en-US" altLang="ja-JP" sz="2400" dirty="0"/>
              <a:t>RVC</a:t>
            </a:r>
            <a:r>
              <a:rPr lang="ja-JP" altLang="en-US" sz="2400" dirty="0"/>
              <a:t>をダウンロード</a:t>
            </a:r>
            <a:br>
              <a:rPr lang="en-US" altLang="ja-JP" sz="2400" dirty="0"/>
            </a:br>
            <a:br>
              <a:rPr lang="en-US" altLang="ja-JP" sz="2400" dirty="0"/>
            </a:br>
            <a:r>
              <a:rPr lang="en-US" altLang="ja-JP" sz="2400" dirty="0">
                <a:hlinkClick r:id="rId3"/>
              </a:rPr>
              <a:t>https://huggingface.co/lj1995/VoiceConversionWebUI/blob/main/RVC-beta.7z</a:t>
            </a:r>
            <a:endParaRPr lang="en-US" altLang="ja-JP" sz="2400" dirty="0"/>
          </a:p>
          <a:p>
            <a:endParaRPr lang="en-US" altLang="ja-JP" sz="2400" dirty="0"/>
          </a:p>
          <a:p>
            <a:pPr marL="0" indent="0">
              <a:buNone/>
            </a:pPr>
            <a:endParaRPr lang="en-US" altLang="ja-JP" sz="2400" dirty="0"/>
          </a:p>
          <a:p>
            <a:r>
              <a:rPr lang="en-US" altLang="ja-JP" sz="2400" dirty="0"/>
              <a:t>RVC-beta0717</a:t>
            </a:r>
            <a:r>
              <a:rPr lang="ja-JP" altLang="en-US" sz="2400" dirty="0"/>
              <a:t>は</a:t>
            </a:r>
            <a:r>
              <a:rPr lang="en-US" altLang="ja-JP" sz="2400" dirty="0"/>
              <a:t>7-zip</a:t>
            </a:r>
            <a:r>
              <a:rPr lang="ja-JP" altLang="en-US" sz="2400" dirty="0"/>
              <a:t>で圧縮されいているため、解凍が必要</a:t>
            </a:r>
            <a:br>
              <a:rPr lang="en-US" altLang="ja-JP" sz="2400" dirty="0"/>
            </a:br>
            <a:r>
              <a:rPr lang="en-US" altLang="ja-JP" sz="2400" dirty="0">
                <a:hlinkClick r:id="rId4"/>
              </a:rPr>
              <a:t>https://7-zip.opensource.jp/</a:t>
            </a:r>
            <a:br>
              <a:rPr lang="en-US" altLang="ja-JP" sz="2400" dirty="0"/>
            </a:br>
            <a:endParaRPr lang="en-US" altLang="ja-JP" sz="2400" dirty="0"/>
          </a:p>
        </p:txBody>
      </p:sp>
      <p:pic>
        <p:nvPicPr>
          <p:cNvPr id="7" name="図 6">
            <a:extLst>
              <a:ext uri="{FF2B5EF4-FFF2-40B4-BE49-F238E27FC236}">
                <a16:creationId xmlns:a16="http://schemas.microsoft.com/office/drawing/2014/main" id="{42BB8D46-DC71-ED6D-962F-6D090B7857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53727" y="1369683"/>
            <a:ext cx="4391526" cy="2631611"/>
          </a:xfrm>
          <a:prstGeom prst="rect">
            <a:avLst/>
          </a:prstGeom>
        </p:spPr>
      </p:pic>
      <p:pic>
        <p:nvPicPr>
          <p:cNvPr id="10" name="図 9">
            <a:extLst>
              <a:ext uri="{FF2B5EF4-FFF2-40B4-BE49-F238E27FC236}">
                <a16:creationId xmlns:a16="http://schemas.microsoft.com/office/drawing/2014/main" id="{F6712DF3-E0A2-C692-98FF-94554D5F51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53727" y="3904838"/>
            <a:ext cx="5134692" cy="2953162"/>
          </a:xfrm>
          <a:prstGeom prst="rect">
            <a:avLst/>
          </a:prstGeom>
        </p:spPr>
      </p:pic>
      <p:sp>
        <p:nvSpPr>
          <p:cNvPr id="4" name="スライド番号プレースホルダー 3">
            <a:extLst>
              <a:ext uri="{FF2B5EF4-FFF2-40B4-BE49-F238E27FC236}">
                <a16:creationId xmlns:a16="http://schemas.microsoft.com/office/drawing/2014/main" id="{E1FD3C62-C461-1DDA-D273-BBBF0CFEDBC1}"/>
              </a:ext>
            </a:extLst>
          </p:cNvPr>
          <p:cNvSpPr>
            <a:spLocks noGrp="1"/>
          </p:cNvSpPr>
          <p:nvPr>
            <p:ph type="sldNum" sz="quarter" idx="12"/>
          </p:nvPr>
        </p:nvSpPr>
        <p:spPr/>
        <p:txBody>
          <a:bodyPr/>
          <a:lstStyle/>
          <a:p>
            <a:fld id="{FDD896F4-601B-4F0E-8AC8-6F1BA59B2012}" type="slidenum">
              <a:rPr kumimoji="1" lang="ja-JP" altLang="en-US" smtClean="0"/>
              <a:t>10</a:t>
            </a:fld>
            <a:endParaRPr kumimoji="1" lang="ja-JP" altLang="en-US"/>
          </a:p>
        </p:txBody>
      </p:sp>
    </p:spTree>
    <p:extLst>
      <p:ext uri="{BB962C8B-B14F-4D97-AF65-F5344CB8AC3E}">
        <p14:creationId xmlns:p14="http://schemas.microsoft.com/office/powerpoint/2010/main" val="2739767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41E8E-7771-62FE-FD2A-5D8F9E5A25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1689AD-CDF3-D906-D414-9122A7B158C3}"/>
              </a:ext>
            </a:extLst>
          </p:cNvPr>
          <p:cNvSpPr>
            <a:spLocks noGrp="1"/>
          </p:cNvSpPr>
          <p:nvPr>
            <p:ph type="title"/>
          </p:nvPr>
        </p:nvSpPr>
        <p:spPr/>
        <p:txBody>
          <a:bodyPr/>
          <a:lstStyle/>
          <a:p>
            <a:r>
              <a:rPr lang="en-US" altLang="ja-JP" dirty="0"/>
              <a:t>RVC-beta0717</a:t>
            </a:r>
            <a:r>
              <a:rPr lang="ja-JP" altLang="en-US" dirty="0"/>
              <a:t>のダウンロード</a:t>
            </a:r>
            <a:endParaRPr kumimoji="1" lang="ja-JP" altLang="en-US" dirty="0"/>
          </a:p>
        </p:txBody>
      </p:sp>
      <p:sp>
        <p:nvSpPr>
          <p:cNvPr id="3" name="コンテンツ プレースホルダー 2">
            <a:extLst>
              <a:ext uri="{FF2B5EF4-FFF2-40B4-BE49-F238E27FC236}">
                <a16:creationId xmlns:a16="http://schemas.microsoft.com/office/drawing/2014/main" id="{304C5F97-A12A-547D-41B7-A2A3B31DC740}"/>
              </a:ext>
            </a:extLst>
          </p:cNvPr>
          <p:cNvSpPr>
            <a:spLocks noGrp="1"/>
          </p:cNvSpPr>
          <p:nvPr>
            <p:ph idx="1"/>
          </p:nvPr>
        </p:nvSpPr>
        <p:spPr>
          <a:xfrm>
            <a:off x="838200" y="1825625"/>
            <a:ext cx="5706980" cy="4351338"/>
          </a:xfrm>
        </p:spPr>
        <p:txBody>
          <a:bodyPr>
            <a:normAutofit/>
          </a:bodyPr>
          <a:lstStyle/>
          <a:p>
            <a:r>
              <a:rPr lang="ja-JP" altLang="en-US" sz="2400" dirty="0"/>
              <a:t>以下のサイトより</a:t>
            </a:r>
            <a:r>
              <a:rPr lang="en-US" altLang="ja-JP" sz="2400" dirty="0"/>
              <a:t>RVC</a:t>
            </a:r>
            <a:r>
              <a:rPr lang="ja-JP" altLang="en-US" sz="2400" dirty="0"/>
              <a:t>をダウンロード</a:t>
            </a:r>
            <a:br>
              <a:rPr lang="en-US" altLang="ja-JP" sz="2400" dirty="0"/>
            </a:br>
            <a:br>
              <a:rPr lang="en-US" altLang="ja-JP" sz="2400" dirty="0"/>
            </a:br>
            <a:r>
              <a:rPr lang="en-US" altLang="ja-JP" sz="2400" dirty="0">
                <a:hlinkClick r:id="rId3"/>
              </a:rPr>
              <a:t>https://huggingface.co/lj1995/VoiceConversionWebUI/blob/main/RVC-beta.7z</a:t>
            </a:r>
            <a:endParaRPr lang="en-US" altLang="ja-JP" sz="2400" dirty="0"/>
          </a:p>
          <a:p>
            <a:endParaRPr lang="en-US" altLang="ja-JP" sz="2400" dirty="0"/>
          </a:p>
          <a:p>
            <a:pPr marL="0" indent="0">
              <a:buNone/>
            </a:pPr>
            <a:endParaRPr lang="en-US" altLang="ja-JP" sz="2400" dirty="0"/>
          </a:p>
          <a:p>
            <a:r>
              <a:rPr lang="en-US" altLang="ja-JP" sz="2400" dirty="0"/>
              <a:t>RVC-beta0717</a:t>
            </a:r>
            <a:r>
              <a:rPr lang="ja-JP" altLang="en-US" sz="2400" dirty="0"/>
              <a:t>は</a:t>
            </a:r>
            <a:r>
              <a:rPr lang="en-US" altLang="ja-JP" sz="2400" dirty="0"/>
              <a:t>7-zip</a:t>
            </a:r>
            <a:r>
              <a:rPr lang="ja-JP" altLang="en-US" sz="2400" dirty="0"/>
              <a:t>で圧縮されいているため、解凍が必要</a:t>
            </a:r>
            <a:br>
              <a:rPr lang="en-US" altLang="ja-JP" sz="2400" dirty="0"/>
            </a:br>
            <a:r>
              <a:rPr lang="en-US" altLang="ja-JP" sz="2400" dirty="0">
                <a:hlinkClick r:id="rId4"/>
              </a:rPr>
              <a:t>https://7-zip.opensource.jp/</a:t>
            </a:r>
            <a:br>
              <a:rPr lang="en-US" altLang="ja-JP" sz="2400" dirty="0"/>
            </a:br>
            <a:endParaRPr lang="en-US" altLang="ja-JP" sz="2400" dirty="0"/>
          </a:p>
        </p:txBody>
      </p:sp>
      <p:pic>
        <p:nvPicPr>
          <p:cNvPr id="7" name="図 6">
            <a:extLst>
              <a:ext uri="{FF2B5EF4-FFF2-40B4-BE49-F238E27FC236}">
                <a16:creationId xmlns:a16="http://schemas.microsoft.com/office/drawing/2014/main" id="{E47EB8D1-F1A5-7C67-65DD-9121BCA42C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7568" y="151647"/>
            <a:ext cx="11191291" cy="6706353"/>
          </a:xfrm>
          <a:prstGeom prst="rect">
            <a:avLst/>
          </a:prstGeom>
        </p:spPr>
      </p:pic>
      <p:sp>
        <p:nvSpPr>
          <p:cNvPr id="4" name="正方形/長方形 3">
            <a:extLst>
              <a:ext uri="{FF2B5EF4-FFF2-40B4-BE49-F238E27FC236}">
                <a16:creationId xmlns:a16="http://schemas.microsoft.com/office/drawing/2014/main" id="{8C2F78D4-A1C5-0153-96B7-93B63300B3CF}"/>
              </a:ext>
            </a:extLst>
          </p:cNvPr>
          <p:cNvSpPr/>
          <p:nvPr/>
        </p:nvSpPr>
        <p:spPr>
          <a:xfrm>
            <a:off x="7731622" y="4620126"/>
            <a:ext cx="754652" cy="29042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スライド番号プレースホルダー 4">
            <a:extLst>
              <a:ext uri="{FF2B5EF4-FFF2-40B4-BE49-F238E27FC236}">
                <a16:creationId xmlns:a16="http://schemas.microsoft.com/office/drawing/2014/main" id="{E13C5284-46F6-A37E-F130-ED03EBCC0962}"/>
              </a:ext>
            </a:extLst>
          </p:cNvPr>
          <p:cNvSpPr>
            <a:spLocks noGrp="1"/>
          </p:cNvSpPr>
          <p:nvPr>
            <p:ph type="sldNum" sz="quarter" idx="12"/>
          </p:nvPr>
        </p:nvSpPr>
        <p:spPr/>
        <p:txBody>
          <a:bodyPr/>
          <a:lstStyle/>
          <a:p>
            <a:fld id="{FDD896F4-601B-4F0E-8AC8-6F1BA59B2012}" type="slidenum">
              <a:rPr kumimoji="1" lang="ja-JP" altLang="en-US" smtClean="0"/>
              <a:t>11</a:t>
            </a:fld>
            <a:endParaRPr kumimoji="1" lang="ja-JP" altLang="en-US"/>
          </a:p>
        </p:txBody>
      </p:sp>
    </p:spTree>
    <p:extLst>
      <p:ext uri="{BB962C8B-B14F-4D97-AF65-F5344CB8AC3E}">
        <p14:creationId xmlns:p14="http://schemas.microsoft.com/office/powerpoint/2010/main" val="2452573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2D4A6-ECE3-52DC-3391-023FDF41FF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3A8EA0-FDD5-AE00-030F-FD82380C5748}"/>
              </a:ext>
            </a:extLst>
          </p:cNvPr>
          <p:cNvSpPr>
            <a:spLocks noGrp="1"/>
          </p:cNvSpPr>
          <p:nvPr>
            <p:ph type="title"/>
          </p:nvPr>
        </p:nvSpPr>
        <p:spPr/>
        <p:txBody>
          <a:bodyPr/>
          <a:lstStyle/>
          <a:p>
            <a:r>
              <a:rPr lang="en-US" altLang="ja-JP" dirty="0"/>
              <a:t>RVC-beta0717</a:t>
            </a:r>
            <a:r>
              <a:rPr lang="ja-JP" altLang="en-US" dirty="0"/>
              <a:t>のダウンロード</a:t>
            </a:r>
            <a:endParaRPr kumimoji="1" lang="ja-JP" altLang="en-US" dirty="0"/>
          </a:p>
        </p:txBody>
      </p:sp>
      <p:sp>
        <p:nvSpPr>
          <p:cNvPr id="3" name="コンテンツ プレースホルダー 2">
            <a:extLst>
              <a:ext uri="{FF2B5EF4-FFF2-40B4-BE49-F238E27FC236}">
                <a16:creationId xmlns:a16="http://schemas.microsoft.com/office/drawing/2014/main" id="{DD74FD68-1286-9D85-D7EE-5E07B2FC1865}"/>
              </a:ext>
            </a:extLst>
          </p:cNvPr>
          <p:cNvSpPr>
            <a:spLocks noGrp="1"/>
          </p:cNvSpPr>
          <p:nvPr>
            <p:ph idx="1"/>
          </p:nvPr>
        </p:nvSpPr>
        <p:spPr>
          <a:xfrm>
            <a:off x="838200" y="1825625"/>
            <a:ext cx="5706980" cy="4351338"/>
          </a:xfrm>
        </p:spPr>
        <p:txBody>
          <a:bodyPr>
            <a:normAutofit/>
          </a:bodyPr>
          <a:lstStyle/>
          <a:p>
            <a:r>
              <a:rPr lang="ja-JP" altLang="en-US" sz="2400" dirty="0"/>
              <a:t>以下のサイトより</a:t>
            </a:r>
            <a:r>
              <a:rPr lang="en-US" altLang="ja-JP" sz="2400" dirty="0"/>
              <a:t>RVC</a:t>
            </a:r>
            <a:r>
              <a:rPr lang="ja-JP" altLang="en-US" sz="2400" dirty="0"/>
              <a:t>をダウンロード</a:t>
            </a:r>
            <a:br>
              <a:rPr lang="en-US" altLang="ja-JP" sz="2400" dirty="0"/>
            </a:br>
            <a:br>
              <a:rPr lang="en-US" altLang="ja-JP" sz="2400" dirty="0"/>
            </a:br>
            <a:r>
              <a:rPr lang="en-US" altLang="ja-JP" sz="2400" dirty="0">
                <a:hlinkClick r:id="rId3"/>
              </a:rPr>
              <a:t>https://huggingface.co/lj1995/VoiceConversionWebUI/blob/main/RVC-beta.7z</a:t>
            </a:r>
            <a:endParaRPr lang="en-US" altLang="ja-JP" sz="2400" dirty="0"/>
          </a:p>
          <a:p>
            <a:endParaRPr lang="en-US" altLang="ja-JP" sz="2400" dirty="0"/>
          </a:p>
          <a:p>
            <a:pPr marL="0" indent="0">
              <a:buNone/>
            </a:pPr>
            <a:endParaRPr lang="en-US" altLang="ja-JP" sz="2400" dirty="0"/>
          </a:p>
          <a:p>
            <a:r>
              <a:rPr lang="en-US" altLang="ja-JP" sz="2400" dirty="0"/>
              <a:t>RVC-beta0717</a:t>
            </a:r>
            <a:r>
              <a:rPr lang="ja-JP" altLang="en-US" sz="2400" dirty="0"/>
              <a:t>は</a:t>
            </a:r>
            <a:r>
              <a:rPr lang="en-US" altLang="ja-JP" sz="2400" dirty="0"/>
              <a:t>7-zip</a:t>
            </a:r>
            <a:r>
              <a:rPr lang="ja-JP" altLang="en-US" sz="2400" dirty="0"/>
              <a:t>で圧縮されいているため、解凍が必要</a:t>
            </a:r>
            <a:br>
              <a:rPr lang="en-US" altLang="ja-JP" sz="2400" dirty="0"/>
            </a:br>
            <a:r>
              <a:rPr lang="en-US" altLang="ja-JP" sz="2400" dirty="0">
                <a:hlinkClick r:id="rId4"/>
              </a:rPr>
              <a:t>https://7-zip.opensource.jp/</a:t>
            </a:r>
            <a:br>
              <a:rPr lang="en-US" altLang="ja-JP" sz="2400" dirty="0"/>
            </a:br>
            <a:endParaRPr lang="en-US" altLang="ja-JP" sz="2400" dirty="0"/>
          </a:p>
        </p:txBody>
      </p:sp>
      <p:pic>
        <p:nvPicPr>
          <p:cNvPr id="7" name="図 6">
            <a:extLst>
              <a:ext uri="{FF2B5EF4-FFF2-40B4-BE49-F238E27FC236}">
                <a16:creationId xmlns:a16="http://schemas.microsoft.com/office/drawing/2014/main" id="{30AD3DAD-DE80-5B66-944B-D757C8F52E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53727" y="1369683"/>
            <a:ext cx="4391526" cy="2631611"/>
          </a:xfrm>
          <a:prstGeom prst="rect">
            <a:avLst/>
          </a:prstGeom>
        </p:spPr>
      </p:pic>
      <p:pic>
        <p:nvPicPr>
          <p:cNvPr id="10" name="図 9">
            <a:extLst>
              <a:ext uri="{FF2B5EF4-FFF2-40B4-BE49-F238E27FC236}">
                <a16:creationId xmlns:a16="http://schemas.microsoft.com/office/drawing/2014/main" id="{841A6D8F-C179-4791-37E9-FA75B08A1E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53727" y="3904838"/>
            <a:ext cx="5134692" cy="2953162"/>
          </a:xfrm>
          <a:prstGeom prst="rect">
            <a:avLst/>
          </a:prstGeom>
        </p:spPr>
      </p:pic>
      <p:sp>
        <p:nvSpPr>
          <p:cNvPr id="4" name="スライド番号プレースホルダー 3">
            <a:extLst>
              <a:ext uri="{FF2B5EF4-FFF2-40B4-BE49-F238E27FC236}">
                <a16:creationId xmlns:a16="http://schemas.microsoft.com/office/drawing/2014/main" id="{99C99082-3521-CDC2-6601-B74D60C4600A}"/>
              </a:ext>
            </a:extLst>
          </p:cNvPr>
          <p:cNvSpPr>
            <a:spLocks noGrp="1"/>
          </p:cNvSpPr>
          <p:nvPr>
            <p:ph type="sldNum" sz="quarter" idx="12"/>
          </p:nvPr>
        </p:nvSpPr>
        <p:spPr/>
        <p:txBody>
          <a:bodyPr/>
          <a:lstStyle/>
          <a:p>
            <a:fld id="{FDD896F4-601B-4F0E-8AC8-6F1BA59B2012}" type="slidenum">
              <a:rPr kumimoji="1" lang="ja-JP" altLang="en-US" smtClean="0"/>
              <a:t>12</a:t>
            </a:fld>
            <a:endParaRPr kumimoji="1" lang="ja-JP" altLang="en-US"/>
          </a:p>
        </p:txBody>
      </p:sp>
    </p:spTree>
    <p:extLst>
      <p:ext uri="{BB962C8B-B14F-4D97-AF65-F5344CB8AC3E}">
        <p14:creationId xmlns:p14="http://schemas.microsoft.com/office/powerpoint/2010/main" val="2292382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1A140-35EC-33CD-08F0-2C9372321A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F5A620-F6C4-85A4-454A-81B8164C915F}"/>
              </a:ext>
            </a:extLst>
          </p:cNvPr>
          <p:cNvSpPr>
            <a:spLocks noGrp="1"/>
          </p:cNvSpPr>
          <p:nvPr>
            <p:ph type="title"/>
          </p:nvPr>
        </p:nvSpPr>
        <p:spPr/>
        <p:txBody>
          <a:bodyPr/>
          <a:lstStyle/>
          <a:p>
            <a:r>
              <a:rPr lang="en-US" altLang="ja-JP" dirty="0"/>
              <a:t>RVC-beta0717</a:t>
            </a:r>
            <a:r>
              <a:rPr lang="ja-JP" altLang="en-US" dirty="0"/>
              <a:t>のダウンロード</a:t>
            </a:r>
            <a:endParaRPr kumimoji="1" lang="ja-JP" altLang="en-US" dirty="0"/>
          </a:p>
        </p:txBody>
      </p:sp>
      <p:pic>
        <p:nvPicPr>
          <p:cNvPr id="10" name="図 9">
            <a:extLst>
              <a:ext uri="{FF2B5EF4-FFF2-40B4-BE49-F238E27FC236}">
                <a16:creationId xmlns:a16="http://schemas.microsoft.com/office/drawing/2014/main" id="{815F953F-B33A-10CA-43F4-66876836DD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338101"/>
            <a:ext cx="5901738" cy="3394320"/>
          </a:xfrm>
          <a:prstGeom prst="rect">
            <a:avLst/>
          </a:prstGeom>
        </p:spPr>
      </p:pic>
      <p:sp>
        <p:nvSpPr>
          <p:cNvPr id="6" name="正方形/長方形 5">
            <a:extLst>
              <a:ext uri="{FF2B5EF4-FFF2-40B4-BE49-F238E27FC236}">
                <a16:creationId xmlns:a16="http://schemas.microsoft.com/office/drawing/2014/main" id="{7A54B9EC-2DBF-1024-FBDB-0C683C5D9901}"/>
              </a:ext>
            </a:extLst>
          </p:cNvPr>
          <p:cNvSpPr/>
          <p:nvPr/>
        </p:nvSpPr>
        <p:spPr>
          <a:xfrm>
            <a:off x="1058106" y="2679706"/>
            <a:ext cx="1123620" cy="3715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337546DD-2221-0F47-9A57-0B895083B337}"/>
              </a:ext>
            </a:extLst>
          </p:cNvPr>
          <p:cNvSpPr>
            <a:spLocks noGrp="1"/>
          </p:cNvSpPr>
          <p:nvPr>
            <p:ph type="sldNum" sz="quarter" idx="12"/>
          </p:nvPr>
        </p:nvSpPr>
        <p:spPr/>
        <p:txBody>
          <a:bodyPr/>
          <a:lstStyle/>
          <a:p>
            <a:fld id="{FDD896F4-601B-4F0E-8AC8-6F1BA59B2012}" type="slidenum">
              <a:rPr kumimoji="1" lang="ja-JP" altLang="en-US" smtClean="0"/>
              <a:t>13</a:t>
            </a:fld>
            <a:endParaRPr kumimoji="1" lang="ja-JP" altLang="en-US"/>
          </a:p>
        </p:txBody>
      </p:sp>
    </p:spTree>
    <p:extLst>
      <p:ext uri="{BB962C8B-B14F-4D97-AF65-F5344CB8AC3E}">
        <p14:creationId xmlns:p14="http://schemas.microsoft.com/office/powerpoint/2010/main" val="3998209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BD330-9C75-90A0-E90D-229AA8579C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EC0C2D-233D-48CD-CF5F-7F5679D3F26A}"/>
              </a:ext>
            </a:extLst>
          </p:cNvPr>
          <p:cNvSpPr>
            <a:spLocks noGrp="1"/>
          </p:cNvSpPr>
          <p:nvPr>
            <p:ph type="title"/>
          </p:nvPr>
        </p:nvSpPr>
        <p:spPr/>
        <p:txBody>
          <a:bodyPr/>
          <a:lstStyle/>
          <a:p>
            <a:r>
              <a:rPr lang="en-US" altLang="ja-JP" dirty="0"/>
              <a:t>RVC-beta0717</a:t>
            </a:r>
            <a:r>
              <a:rPr lang="ja-JP" altLang="en-US" dirty="0"/>
              <a:t>のダウンロード</a:t>
            </a:r>
            <a:endParaRPr kumimoji="1" lang="ja-JP" altLang="en-US" dirty="0"/>
          </a:p>
        </p:txBody>
      </p:sp>
      <p:pic>
        <p:nvPicPr>
          <p:cNvPr id="9" name="図 8">
            <a:extLst>
              <a:ext uri="{FF2B5EF4-FFF2-40B4-BE49-F238E27FC236}">
                <a16:creationId xmlns:a16="http://schemas.microsoft.com/office/drawing/2014/main" id="{93BA1FF3-3D85-C65C-9473-644E3104DD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643" y="1370834"/>
            <a:ext cx="3677163" cy="5487166"/>
          </a:xfrm>
          <a:prstGeom prst="rect">
            <a:avLst/>
          </a:prstGeom>
        </p:spPr>
      </p:pic>
      <p:sp>
        <p:nvSpPr>
          <p:cNvPr id="11" name="正方形/長方形 10">
            <a:extLst>
              <a:ext uri="{FF2B5EF4-FFF2-40B4-BE49-F238E27FC236}">
                <a16:creationId xmlns:a16="http://schemas.microsoft.com/office/drawing/2014/main" id="{E70F0EF1-787C-644D-5289-F8D8417736BC}"/>
              </a:ext>
            </a:extLst>
          </p:cNvPr>
          <p:cNvSpPr/>
          <p:nvPr/>
        </p:nvSpPr>
        <p:spPr>
          <a:xfrm>
            <a:off x="471486" y="5856017"/>
            <a:ext cx="2019051" cy="3339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a:extLst>
              <a:ext uri="{FF2B5EF4-FFF2-40B4-BE49-F238E27FC236}">
                <a16:creationId xmlns:a16="http://schemas.microsoft.com/office/drawing/2014/main" id="{8C3F1136-9BE0-5733-4153-647D633DAB14}"/>
              </a:ext>
            </a:extLst>
          </p:cNvPr>
          <p:cNvPicPr>
            <a:picLocks noChangeAspect="1"/>
          </p:cNvPicPr>
          <p:nvPr/>
        </p:nvPicPr>
        <p:blipFill>
          <a:blip r:embed="rId4">
            <a:extLst>
              <a:ext uri="{28A0092B-C50C-407E-A947-70E740481C1C}">
                <a14:useLocalDpi xmlns:a14="http://schemas.microsoft.com/office/drawing/2010/main" val="0"/>
              </a:ext>
            </a:extLst>
          </a:blip>
          <a:srcRect t="29695" b="19636"/>
          <a:stretch>
            <a:fillRect/>
          </a:stretch>
        </p:blipFill>
        <p:spPr>
          <a:xfrm>
            <a:off x="4148649" y="1690688"/>
            <a:ext cx="7865527" cy="4740442"/>
          </a:xfrm>
          <a:prstGeom prst="rect">
            <a:avLst/>
          </a:prstGeom>
        </p:spPr>
      </p:pic>
      <p:sp>
        <p:nvSpPr>
          <p:cNvPr id="3" name="正方形/長方形 2">
            <a:extLst>
              <a:ext uri="{FF2B5EF4-FFF2-40B4-BE49-F238E27FC236}">
                <a16:creationId xmlns:a16="http://schemas.microsoft.com/office/drawing/2014/main" id="{9652647A-A4E4-8328-51A8-CC555798C904}"/>
              </a:ext>
            </a:extLst>
          </p:cNvPr>
          <p:cNvSpPr/>
          <p:nvPr/>
        </p:nvSpPr>
        <p:spPr>
          <a:xfrm>
            <a:off x="4345654" y="2053388"/>
            <a:ext cx="964283" cy="2944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EE99A433-5981-3621-F376-842B43A8ED22}"/>
              </a:ext>
            </a:extLst>
          </p:cNvPr>
          <p:cNvSpPr/>
          <p:nvPr/>
        </p:nvSpPr>
        <p:spPr>
          <a:xfrm>
            <a:off x="8428369" y="2737830"/>
            <a:ext cx="964283" cy="2944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スライド番号プレースホルダー 4">
            <a:extLst>
              <a:ext uri="{FF2B5EF4-FFF2-40B4-BE49-F238E27FC236}">
                <a16:creationId xmlns:a16="http://schemas.microsoft.com/office/drawing/2014/main" id="{E557F38D-39BF-2EB9-9838-5E40FF1A3D0F}"/>
              </a:ext>
            </a:extLst>
          </p:cNvPr>
          <p:cNvSpPr>
            <a:spLocks noGrp="1"/>
          </p:cNvSpPr>
          <p:nvPr>
            <p:ph type="sldNum" sz="quarter" idx="12"/>
          </p:nvPr>
        </p:nvSpPr>
        <p:spPr/>
        <p:txBody>
          <a:bodyPr/>
          <a:lstStyle/>
          <a:p>
            <a:fld id="{FDD896F4-601B-4F0E-8AC8-6F1BA59B2012}" type="slidenum">
              <a:rPr kumimoji="1" lang="ja-JP" altLang="en-US" smtClean="0"/>
              <a:t>14</a:t>
            </a:fld>
            <a:endParaRPr kumimoji="1" lang="ja-JP" altLang="en-US"/>
          </a:p>
        </p:txBody>
      </p:sp>
    </p:spTree>
    <p:extLst>
      <p:ext uri="{BB962C8B-B14F-4D97-AF65-F5344CB8AC3E}">
        <p14:creationId xmlns:p14="http://schemas.microsoft.com/office/powerpoint/2010/main" val="1389620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57574-4FF2-697F-A1FF-0E35DB2623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9C94D0-C8A3-31E1-5462-A657254AFAD1}"/>
              </a:ext>
            </a:extLst>
          </p:cNvPr>
          <p:cNvSpPr>
            <a:spLocks noGrp="1"/>
          </p:cNvSpPr>
          <p:nvPr>
            <p:ph type="title"/>
          </p:nvPr>
        </p:nvSpPr>
        <p:spPr/>
        <p:txBody>
          <a:bodyPr>
            <a:normAutofit/>
          </a:bodyPr>
          <a:lstStyle/>
          <a:p>
            <a:r>
              <a:rPr kumimoji="1" lang="en-US" altLang="ja-JP" sz="4800" dirty="0"/>
              <a:t>RVC-</a:t>
            </a:r>
            <a:r>
              <a:rPr kumimoji="1" lang="en-US" altLang="ja-JP" sz="4800" dirty="0" err="1"/>
              <a:t>WebUI</a:t>
            </a:r>
            <a:r>
              <a:rPr kumimoji="1" lang="ja-JP" altLang="en-US" sz="4800" dirty="0"/>
              <a:t>の使い方</a:t>
            </a:r>
            <a:br>
              <a:rPr kumimoji="1" lang="en-US" altLang="ja-JP" sz="4800" dirty="0"/>
            </a:br>
            <a:r>
              <a:rPr kumimoji="1" lang="ja-JP" altLang="en-US" sz="4800" dirty="0"/>
              <a:t>（トレーニング・音声変換の方法）</a:t>
            </a:r>
          </a:p>
        </p:txBody>
      </p:sp>
      <p:sp>
        <p:nvSpPr>
          <p:cNvPr id="3" name="テキスト プレースホルダー 2">
            <a:extLst>
              <a:ext uri="{FF2B5EF4-FFF2-40B4-BE49-F238E27FC236}">
                <a16:creationId xmlns:a16="http://schemas.microsoft.com/office/drawing/2014/main" id="{5EFD7EB6-1F95-37D6-2007-D5A601D2A66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116EE0C-8DD0-F36F-2A65-11BD76455808}"/>
              </a:ext>
            </a:extLst>
          </p:cNvPr>
          <p:cNvSpPr>
            <a:spLocks noGrp="1"/>
          </p:cNvSpPr>
          <p:nvPr>
            <p:ph type="sldNum" sz="quarter" idx="12"/>
          </p:nvPr>
        </p:nvSpPr>
        <p:spPr/>
        <p:txBody>
          <a:bodyPr/>
          <a:lstStyle/>
          <a:p>
            <a:fld id="{FDD896F4-601B-4F0E-8AC8-6F1BA59B2012}" type="slidenum">
              <a:rPr kumimoji="1" lang="ja-JP" altLang="en-US" smtClean="0"/>
              <a:t>15</a:t>
            </a:fld>
            <a:endParaRPr kumimoji="1" lang="ja-JP" altLang="en-US"/>
          </a:p>
        </p:txBody>
      </p:sp>
    </p:spTree>
    <p:extLst>
      <p:ext uri="{BB962C8B-B14F-4D97-AF65-F5344CB8AC3E}">
        <p14:creationId xmlns:p14="http://schemas.microsoft.com/office/powerpoint/2010/main" val="585929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AAC9E-D8D1-4BB8-B337-2449E77F0B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60D67D-9EB2-43E7-EC46-42BA14BEBE52}"/>
              </a:ext>
            </a:extLst>
          </p:cNvPr>
          <p:cNvSpPr>
            <a:spLocks noGrp="1"/>
          </p:cNvSpPr>
          <p:nvPr>
            <p:ph type="title"/>
          </p:nvPr>
        </p:nvSpPr>
        <p:spPr/>
        <p:txBody>
          <a:bodyPr/>
          <a:lstStyle/>
          <a:p>
            <a:r>
              <a:rPr lang="ja-JP" altLang="en-US" dirty="0"/>
              <a:t>使用するツール</a:t>
            </a:r>
            <a:endParaRPr kumimoji="1" lang="ja-JP" altLang="en-US" dirty="0"/>
          </a:p>
        </p:txBody>
      </p:sp>
      <p:sp>
        <p:nvSpPr>
          <p:cNvPr id="3" name="コンテンツ プレースホルダー 2">
            <a:extLst>
              <a:ext uri="{FF2B5EF4-FFF2-40B4-BE49-F238E27FC236}">
                <a16:creationId xmlns:a16="http://schemas.microsoft.com/office/drawing/2014/main" id="{6A54B8A8-6FE5-CF90-1988-0ADF6D7D8FBA}"/>
              </a:ext>
            </a:extLst>
          </p:cNvPr>
          <p:cNvSpPr>
            <a:spLocks noGrp="1"/>
          </p:cNvSpPr>
          <p:nvPr>
            <p:ph idx="1"/>
          </p:nvPr>
        </p:nvSpPr>
        <p:spPr/>
        <p:txBody>
          <a:bodyPr/>
          <a:lstStyle/>
          <a:p>
            <a:r>
              <a:rPr kumimoji="1" lang="en-US" altLang="ja-JP" dirty="0"/>
              <a:t>OS</a:t>
            </a:r>
            <a:r>
              <a:rPr lang="ja-JP" altLang="en-US" dirty="0"/>
              <a:t>：</a:t>
            </a:r>
            <a:r>
              <a:rPr kumimoji="1" lang="en-US" altLang="ja-JP" dirty="0"/>
              <a:t>Windows10</a:t>
            </a:r>
            <a:r>
              <a:rPr kumimoji="1" lang="ja-JP" altLang="en-US" dirty="0"/>
              <a:t>、</a:t>
            </a:r>
            <a:r>
              <a:rPr kumimoji="1" lang="en-US" altLang="ja-JP" dirty="0"/>
              <a:t>11</a:t>
            </a:r>
          </a:p>
          <a:p>
            <a:r>
              <a:rPr lang="en-US" altLang="ja-JP" dirty="0"/>
              <a:t>GPU</a:t>
            </a:r>
            <a:r>
              <a:rPr lang="ja-JP" altLang="en-US" dirty="0"/>
              <a:t>：</a:t>
            </a:r>
            <a:r>
              <a:rPr lang="en-US" altLang="ja-JP" dirty="0"/>
              <a:t>NVIDIA</a:t>
            </a:r>
            <a:r>
              <a:rPr lang="ja-JP" altLang="en-US" dirty="0"/>
              <a:t>　</a:t>
            </a:r>
            <a:r>
              <a:rPr lang="en-US" altLang="ja-JP" dirty="0"/>
              <a:t>RTX30</a:t>
            </a:r>
            <a:r>
              <a:rPr lang="ja-JP" altLang="en-US" dirty="0"/>
              <a:t>○○　</a:t>
            </a:r>
            <a:r>
              <a:rPr lang="en-US" altLang="ja-JP" dirty="0"/>
              <a:t>or</a:t>
            </a:r>
            <a:r>
              <a:rPr lang="ja-JP" altLang="en-US" dirty="0"/>
              <a:t>　</a:t>
            </a:r>
            <a:r>
              <a:rPr lang="en-US" altLang="ja-JP" dirty="0"/>
              <a:t>RTX40</a:t>
            </a:r>
            <a:r>
              <a:rPr lang="ja-JP" altLang="en-US" dirty="0"/>
              <a:t>○○</a:t>
            </a:r>
            <a:endParaRPr lang="en-US" altLang="ja-JP" dirty="0"/>
          </a:p>
          <a:p>
            <a:r>
              <a:rPr kumimoji="1" lang="en-US" altLang="ja-JP" dirty="0"/>
              <a:t>Python 3.8 </a:t>
            </a:r>
            <a:r>
              <a:rPr kumimoji="1" lang="ja-JP" altLang="en-US" dirty="0"/>
              <a:t>～ </a:t>
            </a:r>
            <a:r>
              <a:rPr lang="en-US" altLang="ja-JP" dirty="0"/>
              <a:t>3.10</a:t>
            </a:r>
          </a:p>
          <a:p>
            <a:r>
              <a:rPr lang="en-US" altLang="ja-JP" dirty="0"/>
              <a:t>RVC-beta0717</a:t>
            </a:r>
          </a:p>
          <a:p>
            <a:r>
              <a:rPr lang="en-US" altLang="ja-JP" dirty="0"/>
              <a:t>Audacity</a:t>
            </a:r>
          </a:p>
          <a:p>
            <a:r>
              <a:rPr lang="en-US" altLang="ja-JP" dirty="0" err="1"/>
              <a:t>Praat</a:t>
            </a:r>
            <a:endParaRPr lang="en-US" altLang="ja-JP" dirty="0"/>
          </a:p>
        </p:txBody>
      </p:sp>
      <p:sp>
        <p:nvSpPr>
          <p:cNvPr id="4" name="スライド番号プレースホルダー 3">
            <a:extLst>
              <a:ext uri="{FF2B5EF4-FFF2-40B4-BE49-F238E27FC236}">
                <a16:creationId xmlns:a16="http://schemas.microsoft.com/office/drawing/2014/main" id="{5A2E038E-46F6-3A83-8C10-8F9AB0555040}"/>
              </a:ext>
            </a:extLst>
          </p:cNvPr>
          <p:cNvSpPr>
            <a:spLocks noGrp="1"/>
          </p:cNvSpPr>
          <p:nvPr>
            <p:ph type="sldNum" sz="quarter" idx="12"/>
          </p:nvPr>
        </p:nvSpPr>
        <p:spPr/>
        <p:txBody>
          <a:bodyPr/>
          <a:lstStyle/>
          <a:p>
            <a:fld id="{FDD896F4-601B-4F0E-8AC8-6F1BA59B2012}" type="slidenum">
              <a:rPr kumimoji="1" lang="ja-JP" altLang="en-US" smtClean="0"/>
              <a:t>16</a:t>
            </a:fld>
            <a:endParaRPr kumimoji="1" lang="ja-JP" altLang="en-US"/>
          </a:p>
        </p:txBody>
      </p:sp>
    </p:spTree>
    <p:extLst>
      <p:ext uri="{BB962C8B-B14F-4D97-AF65-F5344CB8AC3E}">
        <p14:creationId xmlns:p14="http://schemas.microsoft.com/office/powerpoint/2010/main" val="3446753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A7B5E-C8B9-94D9-7B27-42AFE04162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42AE83-66E6-7A3A-8912-ADAD15C52B9E}"/>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endParaRPr kumimoji="1" lang="ja-JP" altLang="en-US" dirty="0"/>
          </a:p>
        </p:txBody>
      </p:sp>
      <p:sp>
        <p:nvSpPr>
          <p:cNvPr id="3" name="コンテンツ プレースホルダー 2">
            <a:extLst>
              <a:ext uri="{FF2B5EF4-FFF2-40B4-BE49-F238E27FC236}">
                <a16:creationId xmlns:a16="http://schemas.microsoft.com/office/drawing/2014/main" id="{7EFC8D16-5D47-BB89-1681-960E7AC67DAE}"/>
              </a:ext>
            </a:extLst>
          </p:cNvPr>
          <p:cNvSpPr>
            <a:spLocks noGrp="1"/>
          </p:cNvSpPr>
          <p:nvPr>
            <p:ph idx="1"/>
          </p:nvPr>
        </p:nvSpPr>
        <p:spPr/>
        <p:txBody>
          <a:bodyPr/>
          <a:lstStyle/>
          <a:p>
            <a:pPr marL="514350" indent="-514350">
              <a:buFont typeface="+mj-lt"/>
              <a:buAutoNum type="arabicPeriod"/>
            </a:pPr>
            <a:r>
              <a:rPr lang="ja-JP" altLang="en-US" dirty="0"/>
              <a:t>学習サンプル音声の準備</a:t>
            </a:r>
            <a:endParaRPr lang="en-US" altLang="ja-JP" dirty="0"/>
          </a:p>
          <a:p>
            <a:pPr marL="514350" indent="-514350">
              <a:buFont typeface="+mj-lt"/>
              <a:buAutoNum type="arabicPeriod"/>
            </a:pPr>
            <a:endParaRPr lang="en-US" altLang="ja-JP" dirty="0"/>
          </a:p>
          <a:p>
            <a:pPr marL="514350" indent="-514350">
              <a:buFont typeface="+mj-lt"/>
              <a:buAutoNum type="arabicPeriod"/>
            </a:pPr>
            <a:r>
              <a:rPr lang="ja-JP" altLang="en-US" dirty="0"/>
              <a:t>トレーニング</a:t>
            </a:r>
            <a:endParaRPr lang="en-US" altLang="ja-JP" dirty="0"/>
          </a:p>
          <a:p>
            <a:pPr marL="514350" indent="-514350">
              <a:buFont typeface="+mj-lt"/>
              <a:buAutoNum type="arabicPeriod"/>
            </a:pPr>
            <a:endParaRPr lang="en-US" altLang="ja-JP" dirty="0"/>
          </a:p>
          <a:p>
            <a:pPr marL="514350" indent="-514350">
              <a:buFont typeface="+mj-lt"/>
              <a:buAutoNum type="arabicPeriod"/>
            </a:pPr>
            <a:r>
              <a:rPr lang="ja-JP" altLang="en-US" dirty="0"/>
              <a:t>音声変換</a:t>
            </a:r>
            <a:endParaRPr lang="en-US" altLang="ja-JP" dirty="0"/>
          </a:p>
        </p:txBody>
      </p:sp>
      <p:sp>
        <p:nvSpPr>
          <p:cNvPr id="4" name="スライド番号プレースホルダー 3">
            <a:extLst>
              <a:ext uri="{FF2B5EF4-FFF2-40B4-BE49-F238E27FC236}">
                <a16:creationId xmlns:a16="http://schemas.microsoft.com/office/drawing/2014/main" id="{AE5A2FC8-90A4-23FB-F992-53AF0A5CA9D9}"/>
              </a:ext>
            </a:extLst>
          </p:cNvPr>
          <p:cNvSpPr>
            <a:spLocks noGrp="1"/>
          </p:cNvSpPr>
          <p:nvPr>
            <p:ph type="sldNum" sz="quarter" idx="12"/>
          </p:nvPr>
        </p:nvSpPr>
        <p:spPr/>
        <p:txBody>
          <a:bodyPr/>
          <a:lstStyle/>
          <a:p>
            <a:fld id="{FDD896F4-601B-4F0E-8AC8-6F1BA59B2012}" type="slidenum">
              <a:rPr kumimoji="1" lang="ja-JP" altLang="en-US" smtClean="0"/>
              <a:t>17</a:t>
            </a:fld>
            <a:endParaRPr kumimoji="1" lang="ja-JP" altLang="en-US"/>
          </a:p>
        </p:txBody>
      </p:sp>
    </p:spTree>
    <p:extLst>
      <p:ext uri="{BB962C8B-B14F-4D97-AF65-F5344CB8AC3E}">
        <p14:creationId xmlns:p14="http://schemas.microsoft.com/office/powerpoint/2010/main" val="1808590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B1124-AE37-CD9A-4B3A-4F3E7A80CC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6DE288-529A-698F-2041-DB714C944499}"/>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en-US" altLang="ja-JP" sz="3600" dirty="0"/>
              <a:t>1. </a:t>
            </a:r>
            <a:r>
              <a:rPr lang="ja-JP" altLang="en-US" sz="3600" dirty="0"/>
              <a:t>学習サンプル音声の準備</a:t>
            </a:r>
            <a:endParaRPr kumimoji="1" lang="ja-JP" altLang="en-US" dirty="0"/>
          </a:p>
        </p:txBody>
      </p:sp>
      <p:sp>
        <p:nvSpPr>
          <p:cNvPr id="3" name="コンテンツ プレースホルダー 2">
            <a:extLst>
              <a:ext uri="{FF2B5EF4-FFF2-40B4-BE49-F238E27FC236}">
                <a16:creationId xmlns:a16="http://schemas.microsoft.com/office/drawing/2014/main" id="{22E7D140-30E9-0171-AF01-60E0444C4429}"/>
              </a:ext>
            </a:extLst>
          </p:cNvPr>
          <p:cNvSpPr>
            <a:spLocks noGrp="1"/>
          </p:cNvSpPr>
          <p:nvPr>
            <p:ph idx="1"/>
          </p:nvPr>
        </p:nvSpPr>
        <p:spPr/>
        <p:txBody>
          <a:bodyPr>
            <a:normAutofit/>
          </a:bodyPr>
          <a:lstStyle/>
          <a:p>
            <a:r>
              <a:rPr lang="ja-JP" altLang="en-US" dirty="0"/>
              <a:t>変換したい話者の音声データを用意する</a:t>
            </a:r>
            <a:endParaRPr lang="en-US" altLang="ja-JP" dirty="0"/>
          </a:p>
          <a:p>
            <a:pPr lvl="1">
              <a:buFont typeface="Wingdings" panose="05000000000000000000" pitchFamily="2" charset="2"/>
              <a:buChar char="ü"/>
            </a:pPr>
            <a:r>
              <a:rPr lang="ja-JP" altLang="en-US" dirty="0"/>
              <a:t>約</a:t>
            </a:r>
            <a:r>
              <a:rPr lang="en-US" altLang="ja-JP" dirty="0"/>
              <a:t>10</a:t>
            </a:r>
            <a:r>
              <a:rPr lang="ja-JP" altLang="en-US" dirty="0"/>
              <a:t>分以上の録音音声</a:t>
            </a:r>
            <a:endParaRPr lang="en-US" altLang="ja-JP" dirty="0"/>
          </a:p>
          <a:p>
            <a:pPr lvl="1">
              <a:buFont typeface="Wingdings" panose="05000000000000000000" pitchFamily="2" charset="2"/>
              <a:buChar char="ü"/>
            </a:pPr>
            <a:r>
              <a:rPr lang="ja-JP" altLang="en-US" dirty="0"/>
              <a:t>音声は高品質、長時間、多様な音素を含む方が望ましい</a:t>
            </a:r>
            <a:endParaRPr lang="en-US" altLang="ja-JP" dirty="0"/>
          </a:p>
          <a:p>
            <a:pPr lvl="1">
              <a:buFont typeface="Wingdings" panose="05000000000000000000" pitchFamily="2" charset="2"/>
              <a:buChar char="ü"/>
            </a:pPr>
            <a:endParaRPr lang="en-US" altLang="ja-JP" dirty="0"/>
          </a:p>
          <a:p>
            <a:r>
              <a:rPr lang="ja-JP" altLang="en-US" dirty="0"/>
              <a:t>音声ファイルを</a:t>
            </a:r>
            <a:r>
              <a:rPr lang="en-US" altLang="ja-JP" dirty="0"/>
              <a:t>wav</a:t>
            </a:r>
            <a:r>
              <a:rPr lang="ja-JP" altLang="en-US" dirty="0"/>
              <a:t>形式に変換する</a:t>
            </a:r>
            <a:endParaRPr lang="en-US" altLang="ja-JP" dirty="0"/>
          </a:p>
          <a:p>
            <a:endParaRPr lang="en-US" altLang="ja-JP" dirty="0"/>
          </a:p>
          <a:p>
            <a:r>
              <a:rPr lang="ja-JP" altLang="en-US" dirty="0"/>
              <a:t>音声ファイルを編集する</a:t>
            </a:r>
            <a:endParaRPr lang="en-US" altLang="ja-JP" dirty="0"/>
          </a:p>
          <a:p>
            <a:pPr lvl="1">
              <a:buFont typeface="Wingdings" panose="05000000000000000000" pitchFamily="2" charset="2"/>
              <a:buChar char="ü"/>
            </a:pPr>
            <a:r>
              <a:rPr lang="ja-JP" altLang="en-US" dirty="0"/>
              <a:t>無音区間をカットする</a:t>
            </a:r>
            <a:endParaRPr lang="en-US" altLang="ja-JP" dirty="0"/>
          </a:p>
          <a:p>
            <a:pPr lvl="1">
              <a:buFont typeface="Wingdings" panose="05000000000000000000" pitchFamily="2" charset="2"/>
              <a:buChar char="ü"/>
            </a:pPr>
            <a:r>
              <a:rPr lang="ja-JP" altLang="en-US" dirty="0"/>
              <a:t>音声を小分けにする（今回の</a:t>
            </a:r>
            <a:r>
              <a:rPr lang="en-US" altLang="ja-JP" dirty="0"/>
              <a:t>WS</a:t>
            </a:r>
            <a:r>
              <a:rPr lang="ja-JP" altLang="en-US" dirty="0"/>
              <a:t>では省略）</a:t>
            </a:r>
            <a:endParaRPr lang="en-US" altLang="ja-JP" dirty="0"/>
          </a:p>
        </p:txBody>
      </p:sp>
      <p:sp>
        <p:nvSpPr>
          <p:cNvPr id="4" name="スライド番号プレースホルダー 3">
            <a:extLst>
              <a:ext uri="{FF2B5EF4-FFF2-40B4-BE49-F238E27FC236}">
                <a16:creationId xmlns:a16="http://schemas.microsoft.com/office/drawing/2014/main" id="{D341DBC3-D50B-53BF-5355-5CEA49459615}"/>
              </a:ext>
            </a:extLst>
          </p:cNvPr>
          <p:cNvSpPr>
            <a:spLocks noGrp="1"/>
          </p:cNvSpPr>
          <p:nvPr>
            <p:ph type="sldNum" sz="quarter" idx="12"/>
          </p:nvPr>
        </p:nvSpPr>
        <p:spPr/>
        <p:txBody>
          <a:bodyPr/>
          <a:lstStyle/>
          <a:p>
            <a:fld id="{FDD896F4-601B-4F0E-8AC8-6F1BA59B2012}" type="slidenum">
              <a:rPr kumimoji="1" lang="ja-JP" altLang="en-US" smtClean="0"/>
              <a:t>18</a:t>
            </a:fld>
            <a:endParaRPr kumimoji="1" lang="ja-JP" altLang="en-US"/>
          </a:p>
        </p:txBody>
      </p:sp>
    </p:spTree>
    <p:extLst>
      <p:ext uri="{BB962C8B-B14F-4D97-AF65-F5344CB8AC3E}">
        <p14:creationId xmlns:p14="http://schemas.microsoft.com/office/powerpoint/2010/main" val="3266676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E5712-62C3-3CE4-4CC5-D7EB6E9B14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1C6C44-818E-0F75-E0E2-BF68BBB15390}"/>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en-US" altLang="ja-JP" sz="3600" dirty="0"/>
              <a:t>1. </a:t>
            </a:r>
            <a:r>
              <a:rPr lang="ja-JP" altLang="en-US" sz="3600" dirty="0"/>
              <a:t>学習サンプル音声の準備</a:t>
            </a:r>
            <a:endParaRPr kumimoji="1" lang="ja-JP" altLang="en-US" dirty="0"/>
          </a:p>
        </p:txBody>
      </p:sp>
      <p:sp>
        <p:nvSpPr>
          <p:cNvPr id="3" name="コンテンツ プレースホルダー 2">
            <a:extLst>
              <a:ext uri="{FF2B5EF4-FFF2-40B4-BE49-F238E27FC236}">
                <a16:creationId xmlns:a16="http://schemas.microsoft.com/office/drawing/2014/main" id="{281547E8-9F00-63A3-CA93-E5AE4A14F65E}"/>
              </a:ext>
            </a:extLst>
          </p:cNvPr>
          <p:cNvSpPr>
            <a:spLocks noGrp="1"/>
          </p:cNvSpPr>
          <p:nvPr>
            <p:ph idx="1"/>
          </p:nvPr>
        </p:nvSpPr>
        <p:spPr>
          <a:xfrm>
            <a:off x="838200" y="1825624"/>
            <a:ext cx="10515600" cy="5032375"/>
          </a:xfrm>
        </p:spPr>
        <p:txBody>
          <a:bodyPr>
            <a:normAutofit/>
          </a:bodyPr>
          <a:lstStyle/>
          <a:p>
            <a:r>
              <a:rPr lang="ja-JP" altLang="en-US" dirty="0"/>
              <a:t>音声ファイルを</a:t>
            </a:r>
            <a:r>
              <a:rPr lang="en-US" altLang="ja-JP" dirty="0"/>
              <a:t>wav</a:t>
            </a:r>
            <a:r>
              <a:rPr lang="ja-JP" altLang="en-US" dirty="0"/>
              <a:t>形式に変換する</a:t>
            </a:r>
            <a:endParaRPr lang="en-US" altLang="ja-JP" dirty="0"/>
          </a:p>
          <a:p>
            <a:pPr lvl="1">
              <a:buFont typeface="Wingdings" panose="05000000000000000000" pitchFamily="2" charset="2"/>
              <a:buChar char="ü"/>
            </a:pPr>
            <a:r>
              <a:rPr lang="en-US" altLang="ja-JP" u="sng" dirty="0" err="1"/>
              <a:t>ffmpeg</a:t>
            </a:r>
            <a:r>
              <a:rPr lang="ja-JP" altLang="en-US" dirty="0"/>
              <a:t>を使用する</a:t>
            </a: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endParaRPr lang="en-US" altLang="ja-JP" dirty="0"/>
          </a:p>
          <a:p>
            <a:pPr marL="457200" lvl="1" indent="0">
              <a:buNone/>
            </a:pPr>
            <a:endParaRPr lang="en-US" altLang="ja-JP" dirty="0"/>
          </a:p>
          <a:p>
            <a:pPr lvl="1">
              <a:buFont typeface="Wingdings" panose="05000000000000000000" pitchFamily="2" charset="2"/>
              <a:buChar char="ü"/>
            </a:pPr>
            <a:r>
              <a:rPr lang="ja-JP" altLang="en-US" dirty="0"/>
              <a:t>コマンドプロンプトで</a:t>
            </a:r>
            <a:r>
              <a:rPr lang="en-US" altLang="ja-JP" dirty="0"/>
              <a:t>RVC-beta0717</a:t>
            </a:r>
            <a:r>
              <a:rPr lang="ja-JP" altLang="en-US" dirty="0"/>
              <a:t>のディレクトリまで移動</a:t>
            </a: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r>
              <a:rPr lang="ja-JP" altLang="en-US" dirty="0"/>
              <a:t>以下のコマンドを実行</a:t>
            </a:r>
            <a:endParaRPr lang="en-US" altLang="ja-JP" dirty="0"/>
          </a:p>
        </p:txBody>
      </p:sp>
      <p:sp>
        <p:nvSpPr>
          <p:cNvPr id="4" name="吹き出し: 四角形 3">
            <a:extLst>
              <a:ext uri="{FF2B5EF4-FFF2-40B4-BE49-F238E27FC236}">
                <a16:creationId xmlns:a16="http://schemas.microsoft.com/office/drawing/2014/main" id="{36845A12-1129-BB07-7093-2B1C8099BE57}"/>
              </a:ext>
            </a:extLst>
          </p:cNvPr>
          <p:cNvSpPr/>
          <p:nvPr/>
        </p:nvSpPr>
        <p:spPr>
          <a:xfrm>
            <a:off x="4874419" y="2422589"/>
            <a:ext cx="6084094" cy="1477899"/>
          </a:xfrm>
          <a:prstGeom prst="wedgeRectCallout">
            <a:avLst>
              <a:gd name="adj1" fmla="val -58964"/>
              <a:gd name="adj2" fmla="val -42809"/>
            </a:avLst>
          </a:prstGeom>
          <a:solidFill>
            <a:schemeClr val="bg1"/>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オープンソースのメディアエンコーダー</a:t>
            </a:r>
            <a:endParaRPr kumimoji="1" lang="en-US" altLang="ja-JP" sz="2000" dirty="0">
              <a:solidFill>
                <a:schemeClr val="tx1"/>
              </a:solidFill>
            </a:endParaRPr>
          </a:p>
          <a:p>
            <a:r>
              <a:rPr lang="ja-JP" altLang="en-US" sz="2000" dirty="0">
                <a:solidFill>
                  <a:schemeClr val="tx1"/>
                </a:solidFill>
              </a:rPr>
              <a:t>多く</a:t>
            </a:r>
            <a:r>
              <a:rPr kumimoji="1" lang="ja-JP" altLang="en-US" sz="2000" dirty="0">
                <a:solidFill>
                  <a:schemeClr val="tx1"/>
                </a:solidFill>
              </a:rPr>
              <a:t>のフォーマットに対応し、</a:t>
            </a:r>
            <a:br>
              <a:rPr kumimoji="1" lang="en-US" altLang="ja-JP" sz="2000" dirty="0">
                <a:solidFill>
                  <a:schemeClr val="tx1"/>
                </a:solidFill>
              </a:rPr>
            </a:br>
            <a:r>
              <a:rPr kumimoji="1" lang="ja-JP" altLang="en-US" sz="2000" dirty="0">
                <a:solidFill>
                  <a:schemeClr val="tx1"/>
                </a:solidFill>
              </a:rPr>
              <a:t>簡単な編集も可能なコマンドラインツール</a:t>
            </a:r>
            <a:endParaRPr kumimoji="1" lang="en-US" altLang="ja-JP" sz="2000" dirty="0">
              <a:solidFill>
                <a:schemeClr val="tx1"/>
              </a:solidFill>
            </a:endParaRPr>
          </a:p>
          <a:p>
            <a:r>
              <a:rPr lang="ja-JP" altLang="en-US" sz="2000" dirty="0">
                <a:solidFill>
                  <a:schemeClr val="tx1"/>
                </a:solidFill>
              </a:rPr>
              <a:t>公式サイト：</a:t>
            </a:r>
            <a:r>
              <a:rPr lang="en-US" altLang="ja-JP" sz="2000" dirty="0">
                <a:solidFill>
                  <a:schemeClr val="tx1"/>
                </a:solidFill>
              </a:rPr>
              <a:t> </a:t>
            </a:r>
            <a:r>
              <a:rPr lang="en-US" altLang="ja-JP" sz="2000" dirty="0">
                <a:solidFill>
                  <a:schemeClr val="tx1"/>
                </a:solidFill>
                <a:hlinkClick r:id="rId2"/>
              </a:rPr>
              <a:t>https://ffmpeg.org/</a:t>
            </a:r>
            <a:r>
              <a:rPr lang="ja-JP" altLang="en-US" sz="2000" dirty="0">
                <a:solidFill>
                  <a:schemeClr val="tx1"/>
                </a:solidFill>
              </a:rPr>
              <a:t>　</a:t>
            </a:r>
            <a:endParaRPr lang="en-US" altLang="ja-JP" sz="2000" dirty="0">
              <a:solidFill>
                <a:schemeClr val="tx1"/>
              </a:solidFill>
            </a:endParaRPr>
          </a:p>
        </p:txBody>
      </p:sp>
      <p:sp>
        <p:nvSpPr>
          <p:cNvPr id="5" name="正方形/長方形 4">
            <a:extLst>
              <a:ext uri="{FF2B5EF4-FFF2-40B4-BE49-F238E27FC236}">
                <a16:creationId xmlns:a16="http://schemas.microsoft.com/office/drawing/2014/main" id="{4E8D1A85-2C8F-2728-856F-C3BBEA7F83D8}"/>
              </a:ext>
            </a:extLst>
          </p:cNvPr>
          <p:cNvSpPr/>
          <p:nvPr/>
        </p:nvSpPr>
        <p:spPr>
          <a:xfrm>
            <a:off x="2381251" y="4736303"/>
            <a:ext cx="4090988" cy="571500"/>
          </a:xfrm>
          <a:prstGeom prst="rect">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b="1" dirty="0">
                <a:solidFill>
                  <a:schemeClr val="tx1"/>
                </a:solidFill>
              </a:rPr>
              <a:t>c</a:t>
            </a:r>
            <a:r>
              <a:rPr kumimoji="1" lang="en-US" altLang="ja-JP" b="1" dirty="0">
                <a:solidFill>
                  <a:schemeClr val="tx1"/>
                </a:solidFill>
              </a:rPr>
              <a:t>d {RVC-beta0717</a:t>
            </a:r>
            <a:r>
              <a:rPr kumimoji="1" lang="ja-JP" altLang="en-US" b="1" dirty="0">
                <a:solidFill>
                  <a:schemeClr val="tx1"/>
                </a:solidFill>
              </a:rPr>
              <a:t>フォルダのパス</a:t>
            </a:r>
            <a:r>
              <a:rPr kumimoji="1" lang="en-US" altLang="ja-JP" b="1" dirty="0">
                <a:solidFill>
                  <a:schemeClr val="tx1"/>
                </a:solidFill>
              </a:rPr>
              <a:t>}</a:t>
            </a:r>
            <a:endParaRPr kumimoji="1" lang="ja-JP" altLang="en-US" b="1" dirty="0">
              <a:solidFill>
                <a:schemeClr val="tx1"/>
              </a:solidFill>
            </a:endParaRPr>
          </a:p>
        </p:txBody>
      </p:sp>
      <p:sp>
        <p:nvSpPr>
          <p:cNvPr id="6" name="正方形/長方形 5">
            <a:extLst>
              <a:ext uri="{FF2B5EF4-FFF2-40B4-BE49-F238E27FC236}">
                <a16:creationId xmlns:a16="http://schemas.microsoft.com/office/drawing/2014/main" id="{5BDFFA73-450D-8516-F277-B8ACC520C834}"/>
              </a:ext>
            </a:extLst>
          </p:cNvPr>
          <p:cNvSpPr/>
          <p:nvPr/>
        </p:nvSpPr>
        <p:spPr>
          <a:xfrm>
            <a:off x="2381251" y="5921375"/>
            <a:ext cx="9277349" cy="571500"/>
          </a:xfrm>
          <a:prstGeom prst="rect">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b="1" dirty="0" err="1">
                <a:solidFill>
                  <a:schemeClr val="tx1"/>
                </a:solidFill>
              </a:rPr>
              <a:t>ffmpeg</a:t>
            </a:r>
            <a:r>
              <a:rPr kumimoji="1" lang="en-US" altLang="ja-JP" b="1" dirty="0">
                <a:solidFill>
                  <a:schemeClr val="tx1"/>
                </a:solidFill>
              </a:rPr>
              <a:t> –</a:t>
            </a:r>
            <a:r>
              <a:rPr kumimoji="1" lang="en-US" altLang="ja-JP" b="1" dirty="0" err="1">
                <a:solidFill>
                  <a:schemeClr val="tx1"/>
                </a:solidFill>
              </a:rPr>
              <a:t>i</a:t>
            </a:r>
            <a:r>
              <a:rPr kumimoji="1" lang="en-US" altLang="ja-JP" b="1" dirty="0">
                <a:solidFill>
                  <a:schemeClr val="tx1"/>
                </a:solidFill>
              </a:rPr>
              <a:t>  “{</a:t>
            </a:r>
            <a:r>
              <a:rPr lang="ja-JP" altLang="en-US" b="1" dirty="0">
                <a:solidFill>
                  <a:schemeClr val="tx1"/>
                </a:solidFill>
              </a:rPr>
              <a:t>サンプル音声まで</a:t>
            </a:r>
            <a:r>
              <a:rPr kumimoji="1" lang="ja-JP" altLang="en-US" b="1" dirty="0">
                <a:solidFill>
                  <a:schemeClr val="tx1"/>
                </a:solidFill>
              </a:rPr>
              <a:t>のパス＋ファイル名</a:t>
            </a:r>
            <a:r>
              <a:rPr kumimoji="1" lang="en-US" altLang="ja-JP" b="1" dirty="0">
                <a:solidFill>
                  <a:schemeClr val="tx1"/>
                </a:solidFill>
              </a:rPr>
              <a:t>}.</a:t>
            </a:r>
            <a:r>
              <a:rPr lang="en-US" altLang="ja-JP" b="1" dirty="0">
                <a:solidFill>
                  <a:schemeClr val="tx1"/>
                </a:solidFill>
              </a:rPr>
              <a:t>m4a” “{</a:t>
            </a:r>
            <a:r>
              <a:rPr lang="ja-JP" altLang="en-US" b="1" dirty="0">
                <a:solidFill>
                  <a:schemeClr val="tx1"/>
                </a:solidFill>
              </a:rPr>
              <a:t>サンプル音声までのパス＋ファイル名</a:t>
            </a:r>
            <a:r>
              <a:rPr lang="en-US" altLang="ja-JP" b="1" dirty="0">
                <a:solidFill>
                  <a:schemeClr val="tx1"/>
                </a:solidFill>
              </a:rPr>
              <a:t>}.</a:t>
            </a:r>
            <a:r>
              <a:rPr lang="en-US" altLang="ja-JP" b="1" dirty="0">
                <a:solidFill>
                  <a:srgbClr val="FF0000"/>
                </a:solidFill>
              </a:rPr>
              <a:t>wav</a:t>
            </a:r>
            <a:r>
              <a:rPr lang="en-US" altLang="ja-JP" b="1" dirty="0">
                <a:solidFill>
                  <a:schemeClr val="tx1"/>
                </a:solidFill>
              </a:rPr>
              <a:t>”</a:t>
            </a:r>
            <a:endParaRPr kumimoji="1" lang="ja-JP" altLang="en-US" b="1" dirty="0">
              <a:solidFill>
                <a:schemeClr val="tx1"/>
              </a:solidFill>
            </a:endParaRPr>
          </a:p>
        </p:txBody>
      </p:sp>
      <p:sp>
        <p:nvSpPr>
          <p:cNvPr id="7" name="スライド番号プレースホルダー 6">
            <a:extLst>
              <a:ext uri="{FF2B5EF4-FFF2-40B4-BE49-F238E27FC236}">
                <a16:creationId xmlns:a16="http://schemas.microsoft.com/office/drawing/2014/main" id="{B8CAD6AA-3FB8-1307-F401-29B267E42036}"/>
              </a:ext>
            </a:extLst>
          </p:cNvPr>
          <p:cNvSpPr>
            <a:spLocks noGrp="1"/>
          </p:cNvSpPr>
          <p:nvPr>
            <p:ph type="sldNum" sz="quarter" idx="12"/>
          </p:nvPr>
        </p:nvSpPr>
        <p:spPr/>
        <p:txBody>
          <a:bodyPr/>
          <a:lstStyle/>
          <a:p>
            <a:fld id="{FDD896F4-601B-4F0E-8AC8-6F1BA59B2012}" type="slidenum">
              <a:rPr kumimoji="1" lang="ja-JP" altLang="en-US" smtClean="0"/>
              <a:t>19</a:t>
            </a:fld>
            <a:endParaRPr kumimoji="1" lang="ja-JP" altLang="en-US"/>
          </a:p>
        </p:txBody>
      </p:sp>
    </p:spTree>
    <p:extLst>
      <p:ext uri="{BB962C8B-B14F-4D97-AF65-F5344CB8AC3E}">
        <p14:creationId xmlns:p14="http://schemas.microsoft.com/office/powerpoint/2010/main" val="1992693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3D71F-03CD-B6AB-2B55-26DB30AB58C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9F35C0C-A11A-2B5E-E992-02F99C0C7137}"/>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en-US" altLang="ja-JP" sz="3600" dirty="0"/>
              <a:t>1. </a:t>
            </a:r>
            <a:r>
              <a:rPr lang="ja-JP" altLang="en-US" sz="3600" dirty="0"/>
              <a:t>学習サンプル音声の準備</a:t>
            </a:r>
            <a:endParaRPr kumimoji="1" lang="ja-JP" altLang="en-US" dirty="0"/>
          </a:p>
        </p:txBody>
      </p:sp>
      <p:sp>
        <p:nvSpPr>
          <p:cNvPr id="3" name="コンテンツ プレースホルダー 2">
            <a:extLst>
              <a:ext uri="{FF2B5EF4-FFF2-40B4-BE49-F238E27FC236}">
                <a16:creationId xmlns:a16="http://schemas.microsoft.com/office/drawing/2014/main" id="{FEB0FF9D-DE7F-550B-F849-EABD9A17CDD5}"/>
              </a:ext>
            </a:extLst>
          </p:cNvPr>
          <p:cNvSpPr>
            <a:spLocks noGrp="1"/>
          </p:cNvSpPr>
          <p:nvPr>
            <p:ph idx="1"/>
          </p:nvPr>
        </p:nvSpPr>
        <p:spPr/>
        <p:txBody>
          <a:bodyPr/>
          <a:lstStyle/>
          <a:p>
            <a:r>
              <a:rPr lang="ja-JP" altLang="en-US" dirty="0"/>
              <a:t>音声ファイルを編集する</a:t>
            </a:r>
            <a:endParaRPr lang="en-US" altLang="ja-JP" dirty="0"/>
          </a:p>
          <a:p>
            <a:pPr lvl="1">
              <a:buFont typeface="Wingdings" panose="05000000000000000000" pitchFamily="2" charset="2"/>
              <a:buChar char="ü"/>
            </a:pPr>
            <a:r>
              <a:rPr lang="ja-JP" altLang="en-US" dirty="0"/>
              <a:t>オーディオ編集ソフトの</a:t>
            </a:r>
            <a:r>
              <a:rPr lang="en-US" altLang="ja-JP" dirty="0"/>
              <a:t>Audacity</a:t>
            </a:r>
            <a:r>
              <a:rPr lang="ja-JP" altLang="en-US" dirty="0"/>
              <a:t>を使用する</a:t>
            </a:r>
            <a:br>
              <a:rPr lang="en-US" altLang="ja-JP" dirty="0"/>
            </a:br>
            <a:r>
              <a:rPr lang="en-US" altLang="ja-JP" dirty="0">
                <a:hlinkClick r:id="rId2"/>
              </a:rPr>
              <a:t>https://www.audacityteam.org/</a:t>
            </a: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r>
              <a:rPr lang="en-US" altLang="ja-JP" dirty="0"/>
              <a:t>Audacity</a:t>
            </a:r>
            <a:r>
              <a:rPr lang="ja-JP" altLang="en-US" dirty="0"/>
              <a:t>上でサンプル音声を開く</a:t>
            </a: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r>
              <a:rPr lang="ja-JP" altLang="en-US" dirty="0"/>
              <a:t>サンプル音声を選択→「エフェクト</a:t>
            </a:r>
            <a:r>
              <a:rPr lang="en-US" altLang="ja-JP" dirty="0"/>
              <a:t>(C)</a:t>
            </a:r>
            <a:r>
              <a:rPr lang="ja-JP" altLang="en-US" dirty="0"/>
              <a:t>」</a:t>
            </a:r>
            <a:br>
              <a:rPr lang="en-US" altLang="ja-JP" dirty="0"/>
            </a:br>
            <a:r>
              <a:rPr lang="ja-JP" altLang="en-US" dirty="0"/>
              <a:t>→「特殊」→「無音を切り詰める」→「適応」</a:t>
            </a:r>
            <a:endParaRPr lang="en-US" altLang="ja-JP" dirty="0"/>
          </a:p>
        </p:txBody>
      </p:sp>
      <p:pic>
        <p:nvPicPr>
          <p:cNvPr id="1026" name="Picture 2" descr="Audacity アイコン、ロゴ、シンボル – 無料ダウンロード PNG、SVG">
            <a:extLst>
              <a:ext uri="{FF2B5EF4-FFF2-40B4-BE49-F238E27FC236}">
                <a16:creationId xmlns:a16="http://schemas.microsoft.com/office/drawing/2014/main" id="{4237B27C-16D5-AF32-1D44-B393ADC0C7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3312" y="399103"/>
            <a:ext cx="1372309" cy="1291585"/>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a:extLst>
              <a:ext uri="{FF2B5EF4-FFF2-40B4-BE49-F238E27FC236}">
                <a16:creationId xmlns:a16="http://schemas.microsoft.com/office/drawing/2014/main" id="{28B8D64F-B8D0-0482-CA46-C4D4378F6BE3}"/>
              </a:ext>
            </a:extLst>
          </p:cNvPr>
          <p:cNvSpPr txBox="1"/>
          <p:nvPr/>
        </p:nvSpPr>
        <p:spPr>
          <a:xfrm>
            <a:off x="9966613" y="1540000"/>
            <a:ext cx="1165705" cy="369332"/>
          </a:xfrm>
          <a:prstGeom prst="rect">
            <a:avLst/>
          </a:prstGeom>
          <a:noFill/>
        </p:spPr>
        <p:txBody>
          <a:bodyPr wrap="none" rtlCol="0">
            <a:spAutoFit/>
          </a:bodyPr>
          <a:lstStyle/>
          <a:p>
            <a:pPr algn="ctr"/>
            <a:r>
              <a:rPr kumimoji="1" lang="en-US" altLang="ja-JP" b="1" dirty="0"/>
              <a:t>Audacity</a:t>
            </a:r>
            <a:endParaRPr kumimoji="1" lang="ja-JP" altLang="en-US" b="1" dirty="0"/>
          </a:p>
        </p:txBody>
      </p:sp>
      <p:pic>
        <p:nvPicPr>
          <p:cNvPr id="16" name="図 15">
            <a:extLst>
              <a:ext uri="{FF2B5EF4-FFF2-40B4-BE49-F238E27FC236}">
                <a16:creationId xmlns:a16="http://schemas.microsoft.com/office/drawing/2014/main" id="{80F586E3-11C4-7400-90C4-A56B565BD888}"/>
              </a:ext>
            </a:extLst>
          </p:cNvPr>
          <p:cNvPicPr>
            <a:picLocks noChangeAspect="1"/>
          </p:cNvPicPr>
          <p:nvPr/>
        </p:nvPicPr>
        <p:blipFill>
          <a:blip r:embed="rId4">
            <a:extLst>
              <a:ext uri="{28A0092B-C50C-407E-A947-70E740481C1C}">
                <a14:useLocalDpi xmlns:a14="http://schemas.microsoft.com/office/drawing/2010/main" val="0"/>
              </a:ext>
            </a:extLst>
          </a:blip>
          <a:srcRect t="58281" b="18273"/>
          <a:stretch>
            <a:fillRect/>
          </a:stretch>
        </p:blipFill>
        <p:spPr>
          <a:xfrm>
            <a:off x="3738596" y="5266368"/>
            <a:ext cx="5623429" cy="1292044"/>
          </a:xfrm>
          <a:prstGeom prst="rect">
            <a:avLst/>
          </a:prstGeom>
        </p:spPr>
      </p:pic>
      <p:pic>
        <p:nvPicPr>
          <p:cNvPr id="18" name="図 17">
            <a:extLst>
              <a:ext uri="{FF2B5EF4-FFF2-40B4-BE49-F238E27FC236}">
                <a16:creationId xmlns:a16="http://schemas.microsoft.com/office/drawing/2014/main" id="{65357A77-712A-F57C-4D10-7D10830B91A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9553577" y="3379403"/>
            <a:ext cx="2319336" cy="3256166"/>
          </a:xfrm>
          <a:prstGeom prst="rect">
            <a:avLst/>
          </a:prstGeom>
        </p:spPr>
      </p:pic>
      <p:sp>
        <p:nvSpPr>
          <p:cNvPr id="19" name="正方形/長方形 18">
            <a:extLst>
              <a:ext uri="{FF2B5EF4-FFF2-40B4-BE49-F238E27FC236}">
                <a16:creationId xmlns:a16="http://schemas.microsoft.com/office/drawing/2014/main" id="{C261902D-D2F0-1EDE-530D-1E68742609F2}"/>
              </a:ext>
            </a:extLst>
          </p:cNvPr>
          <p:cNvSpPr/>
          <p:nvPr/>
        </p:nvSpPr>
        <p:spPr>
          <a:xfrm>
            <a:off x="4060006" y="5372100"/>
            <a:ext cx="554857" cy="2744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718F1405-5FEA-63EE-5CA6-6A7CFF9FF59D}"/>
              </a:ext>
            </a:extLst>
          </p:cNvPr>
          <p:cNvSpPr/>
          <p:nvPr/>
        </p:nvSpPr>
        <p:spPr>
          <a:xfrm>
            <a:off x="7174579" y="5872163"/>
            <a:ext cx="1226471" cy="2588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BC8F9304-12A3-2F03-7F2C-805BA94BD9AE}"/>
              </a:ext>
            </a:extLst>
          </p:cNvPr>
          <p:cNvSpPr/>
          <p:nvPr/>
        </p:nvSpPr>
        <p:spPr>
          <a:xfrm>
            <a:off x="11146606" y="6326188"/>
            <a:ext cx="740595" cy="2744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F164A667-3B84-E50D-A9AB-7E18AA67F83E}"/>
              </a:ext>
            </a:extLst>
          </p:cNvPr>
          <p:cNvSpPr>
            <a:spLocks noGrp="1"/>
          </p:cNvSpPr>
          <p:nvPr>
            <p:ph type="sldNum" sz="quarter" idx="12"/>
          </p:nvPr>
        </p:nvSpPr>
        <p:spPr/>
        <p:txBody>
          <a:bodyPr/>
          <a:lstStyle/>
          <a:p>
            <a:fld id="{FDD896F4-601B-4F0E-8AC8-6F1BA59B2012}" type="slidenum">
              <a:rPr kumimoji="1" lang="ja-JP" altLang="en-US" smtClean="0"/>
              <a:t>20</a:t>
            </a:fld>
            <a:endParaRPr kumimoji="1" lang="ja-JP" altLang="en-US"/>
          </a:p>
        </p:txBody>
      </p:sp>
    </p:spTree>
    <p:extLst>
      <p:ext uri="{BB962C8B-B14F-4D97-AF65-F5344CB8AC3E}">
        <p14:creationId xmlns:p14="http://schemas.microsoft.com/office/powerpoint/2010/main" val="233582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DBED0-2FB1-8FB4-1ADF-12CB52A557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DD65567-867C-2757-A15C-342D6FCAEE36}"/>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en-US" altLang="ja-JP" sz="3600" dirty="0"/>
              <a:t>1. </a:t>
            </a:r>
            <a:r>
              <a:rPr lang="ja-JP" altLang="en-US" sz="3600" dirty="0"/>
              <a:t>学習サンプル音声の準備</a:t>
            </a:r>
            <a:endParaRPr kumimoji="1" lang="ja-JP" altLang="en-US" dirty="0"/>
          </a:p>
        </p:txBody>
      </p:sp>
      <p:sp>
        <p:nvSpPr>
          <p:cNvPr id="3" name="コンテンツ プレースホルダー 2">
            <a:extLst>
              <a:ext uri="{FF2B5EF4-FFF2-40B4-BE49-F238E27FC236}">
                <a16:creationId xmlns:a16="http://schemas.microsoft.com/office/drawing/2014/main" id="{CE1AEF44-0319-3045-44A4-C6167C3FD8A7}"/>
              </a:ext>
            </a:extLst>
          </p:cNvPr>
          <p:cNvSpPr>
            <a:spLocks noGrp="1"/>
          </p:cNvSpPr>
          <p:nvPr>
            <p:ph idx="1"/>
          </p:nvPr>
        </p:nvSpPr>
        <p:spPr/>
        <p:txBody>
          <a:bodyPr>
            <a:normAutofit/>
          </a:bodyPr>
          <a:lstStyle/>
          <a:p>
            <a:r>
              <a:rPr lang="ja-JP" altLang="en-US" dirty="0"/>
              <a:t>音声ファイルを編集する</a:t>
            </a:r>
          </a:p>
          <a:p>
            <a:pPr lvl="1">
              <a:buFont typeface="Wingdings" panose="05000000000000000000" pitchFamily="2" charset="2"/>
              <a:buChar char="ü"/>
            </a:pPr>
            <a:r>
              <a:rPr lang="ja-JP" altLang="en-US" dirty="0"/>
              <a:t>サンプル音声の先頭</a:t>
            </a:r>
            <a:r>
              <a:rPr lang="en-US" altLang="ja-JP" dirty="0"/>
              <a:t>10</a:t>
            </a:r>
            <a:r>
              <a:rPr lang="ja-JP" altLang="en-US" dirty="0"/>
              <a:t>秒を範囲選択</a:t>
            </a:r>
            <a:endParaRPr lang="en-US" altLang="ja-JP" dirty="0"/>
          </a:p>
          <a:p>
            <a:pPr lvl="1">
              <a:buFont typeface="Wingdings" panose="05000000000000000000" pitchFamily="2" charset="2"/>
              <a:buChar char="ü"/>
            </a:pPr>
            <a:r>
              <a:rPr lang="ja-JP" altLang="en-US" dirty="0"/>
              <a:t>右クリック→「切り取り」</a:t>
            </a:r>
            <a:endParaRPr lang="en-US" altLang="ja-JP" dirty="0"/>
          </a:p>
          <a:p>
            <a:pPr lvl="1">
              <a:buFont typeface="Wingdings" panose="05000000000000000000" pitchFamily="2" charset="2"/>
              <a:buChar char="ü"/>
            </a:pPr>
            <a:r>
              <a:rPr lang="ja-JP" altLang="en-US" dirty="0"/>
              <a:t>音声の下のエリアをクリックして「</a:t>
            </a:r>
            <a:r>
              <a:rPr lang="en-US" altLang="ja-JP" dirty="0"/>
              <a:t>Ctrl + V</a:t>
            </a:r>
            <a:r>
              <a:rPr lang="ja-JP" altLang="en-US" dirty="0"/>
              <a:t>」</a:t>
            </a:r>
            <a:endParaRPr lang="en-US" altLang="ja-JP" dirty="0"/>
          </a:p>
        </p:txBody>
      </p:sp>
      <p:pic>
        <p:nvPicPr>
          <p:cNvPr id="5" name="図 4">
            <a:extLst>
              <a:ext uri="{FF2B5EF4-FFF2-40B4-BE49-F238E27FC236}">
                <a16:creationId xmlns:a16="http://schemas.microsoft.com/office/drawing/2014/main" id="{227D8787-F65E-C4F9-AE6A-33944A54590E}"/>
              </a:ext>
            </a:extLst>
          </p:cNvPr>
          <p:cNvPicPr>
            <a:picLocks noChangeAspect="1"/>
          </p:cNvPicPr>
          <p:nvPr/>
        </p:nvPicPr>
        <p:blipFill>
          <a:blip r:embed="rId2">
            <a:extLst>
              <a:ext uri="{28A0092B-C50C-407E-A947-70E740481C1C}">
                <a14:useLocalDpi xmlns:a14="http://schemas.microsoft.com/office/drawing/2010/main" val="0"/>
              </a:ext>
            </a:extLst>
          </a:blip>
          <a:srcRect r="30873" b="18526"/>
          <a:stretch>
            <a:fillRect/>
          </a:stretch>
        </p:blipFill>
        <p:spPr>
          <a:xfrm>
            <a:off x="7073898" y="3496732"/>
            <a:ext cx="4483102" cy="3085862"/>
          </a:xfrm>
          <a:prstGeom prst="rect">
            <a:avLst/>
          </a:prstGeom>
        </p:spPr>
      </p:pic>
      <p:pic>
        <p:nvPicPr>
          <p:cNvPr id="7" name="図 6">
            <a:extLst>
              <a:ext uri="{FF2B5EF4-FFF2-40B4-BE49-F238E27FC236}">
                <a16:creationId xmlns:a16="http://schemas.microsoft.com/office/drawing/2014/main" id="{51B048A6-42F4-4A69-5C2E-F5F30BF9E83E}"/>
              </a:ext>
            </a:extLst>
          </p:cNvPr>
          <p:cNvPicPr>
            <a:picLocks noChangeAspect="1"/>
          </p:cNvPicPr>
          <p:nvPr/>
        </p:nvPicPr>
        <p:blipFill>
          <a:blip r:embed="rId3">
            <a:extLst>
              <a:ext uri="{28A0092B-C50C-407E-A947-70E740481C1C}">
                <a14:useLocalDpi xmlns:a14="http://schemas.microsoft.com/office/drawing/2010/main" val="0"/>
              </a:ext>
            </a:extLst>
          </a:blip>
          <a:srcRect b="30329"/>
          <a:stretch>
            <a:fillRect/>
          </a:stretch>
        </p:blipFill>
        <p:spPr>
          <a:xfrm>
            <a:off x="1361413" y="3623733"/>
            <a:ext cx="5452807" cy="2866481"/>
          </a:xfrm>
          <a:prstGeom prst="rect">
            <a:avLst/>
          </a:prstGeom>
        </p:spPr>
      </p:pic>
      <p:sp>
        <p:nvSpPr>
          <p:cNvPr id="8" name="正方形/長方形 7">
            <a:extLst>
              <a:ext uri="{FF2B5EF4-FFF2-40B4-BE49-F238E27FC236}">
                <a16:creationId xmlns:a16="http://schemas.microsoft.com/office/drawing/2014/main" id="{AF7E2B5D-06AA-595E-C7E8-99CAB4A11218}"/>
              </a:ext>
            </a:extLst>
          </p:cNvPr>
          <p:cNvSpPr/>
          <p:nvPr/>
        </p:nvSpPr>
        <p:spPr>
          <a:xfrm>
            <a:off x="3714009" y="5259388"/>
            <a:ext cx="740595" cy="2744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FE42E74E-4917-E306-E42E-F04519A67205}"/>
              </a:ext>
            </a:extLst>
          </p:cNvPr>
          <p:cNvSpPr>
            <a:spLocks noGrp="1"/>
          </p:cNvSpPr>
          <p:nvPr>
            <p:ph type="sldNum" sz="quarter" idx="12"/>
          </p:nvPr>
        </p:nvSpPr>
        <p:spPr/>
        <p:txBody>
          <a:bodyPr/>
          <a:lstStyle/>
          <a:p>
            <a:fld id="{FDD896F4-601B-4F0E-8AC8-6F1BA59B2012}" type="slidenum">
              <a:rPr kumimoji="1" lang="ja-JP" altLang="en-US" smtClean="0"/>
              <a:t>21</a:t>
            </a:fld>
            <a:endParaRPr kumimoji="1" lang="ja-JP" altLang="en-US"/>
          </a:p>
        </p:txBody>
      </p:sp>
    </p:spTree>
    <p:extLst>
      <p:ext uri="{BB962C8B-B14F-4D97-AF65-F5344CB8AC3E}">
        <p14:creationId xmlns:p14="http://schemas.microsoft.com/office/powerpoint/2010/main" val="170499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8902A-A9E5-FC38-E288-AE01AADAD6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AB9C254-1CEE-A56C-1062-54B6ACA94549}"/>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en-US" altLang="ja-JP" sz="3600" dirty="0"/>
              <a:t>1. </a:t>
            </a:r>
            <a:r>
              <a:rPr lang="ja-JP" altLang="en-US" sz="3600" dirty="0"/>
              <a:t>学習サンプル音声の準備</a:t>
            </a:r>
            <a:endParaRPr kumimoji="1" lang="ja-JP" altLang="en-US" dirty="0"/>
          </a:p>
        </p:txBody>
      </p:sp>
      <p:sp>
        <p:nvSpPr>
          <p:cNvPr id="3" name="コンテンツ プレースホルダー 2">
            <a:extLst>
              <a:ext uri="{FF2B5EF4-FFF2-40B4-BE49-F238E27FC236}">
                <a16:creationId xmlns:a16="http://schemas.microsoft.com/office/drawing/2014/main" id="{0233BAD8-28D4-0C0B-4C52-3F748CA70173}"/>
              </a:ext>
            </a:extLst>
          </p:cNvPr>
          <p:cNvSpPr>
            <a:spLocks noGrp="1"/>
          </p:cNvSpPr>
          <p:nvPr>
            <p:ph idx="1"/>
          </p:nvPr>
        </p:nvSpPr>
        <p:spPr/>
        <p:txBody>
          <a:bodyPr>
            <a:normAutofit/>
          </a:bodyPr>
          <a:lstStyle/>
          <a:p>
            <a:r>
              <a:rPr lang="ja-JP" altLang="en-US" dirty="0"/>
              <a:t>編集が完了した音声ファイルを保存する</a:t>
            </a:r>
            <a:endParaRPr lang="en-US" altLang="ja-JP" dirty="0"/>
          </a:p>
          <a:p>
            <a:pPr lvl="1">
              <a:buFont typeface="Wingdings" panose="05000000000000000000" pitchFamily="2" charset="2"/>
              <a:buChar char="ü"/>
            </a:pPr>
            <a:r>
              <a:rPr lang="ja-JP" altLang="en-US" dirty="0"/>
              <a:t>「ファイル」→「オーディオをエクスポート」</a:t>
            </a:r>
            <a:br>
              <a:rPr lang="en-US" altLang="ja-JP" dirty="0"/>
            </a:br>
            <a:r>
              <a:rPr lang="ja-JP" altLang="en-US" dirty="0"/>
              <a:t>→「コンピュータにエクスポート</a:t>
            </a:r>
            <a:r>
              <a:rPr lang="en-US" altLang="ja-JP" dirty="0"/>
              <a:t>(C)</a:t>
            </a:r>
            <a:r>
              <a:rPr lang="ja-JP" altLang="en-US" dirty="0"/>
              <a:t>」</a:t>
            </a: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r>
              <a:rPr lang="ja-JP" altLang="en-US" dirty="0"/>
              <a:t>「フォルダー</a:t>
            </a:r>
            <a:r>
              <a:rPr lang="en-US" altLang="ja-JP" dirty="0"/>
              <a:t>(L)</a:t>
            </a:r>
            <a:r>
              <a:rPr lang="ja-JP" altLang="en-US" dirty="0"/>
              <a:t>」欄の参照をクリック</a:t>
            </a:r>
            <a:br>
              <a:rPr lang="en-US" altLang="ja-JP" dirty="0"/>
            </a:br>
            <a:r>
              <a:rPr lang="ja-JP" altLang="en-US" dirty="0"/>
              <a:t>→任意の場所でフォルダを作成</a:t>
            </a:r>
            <a:br>
              <a:rPr lang="en-US" altLang="ja-JP" dirty="0"/>
            </a:br>
            <a:r>
              <a:rPr lang="ja-JP" altLang="en-US" dirty="0"/>
              <a:t>→作成したフォルダを選択</a:t>
            </a: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r>
              <a:rPr lang="ja-JP" altLang="en-US" dirty="0"/>
              <a:t>「形式</a:t>
            </a:r>
            <a:r>
              <a:rPr lang="en-US" altLang="ja-JP" dirty="0"/>
              <a:t>(F)</a:t>
            </a:r>
            <a:r>
              <a:rPr lang="ja-JP" altLang="en-US" dirty="0"/>
              <a:t>」は</a:t>
            </a:r>
            <a:r>
              <a:rPr lang="en-US" altLang="ja-JP" dirty="0"/>
              <a:t>wav</a:t>
            </a:r>
            <a:r>
              <a:rPr lang="ja-JP" altLang="en-US" dirty="0"/>
              <a:t>を選択　</a:t>
            </a:r>
            <a:br>
              <a:rPr lang="en-US" altLang="ja-JP" dirty="0"/>
            </a:br>
            <a:r>
              <a:rPr lang="ja-JP" altLang="en-US" dirty="0"/>
              <a:t>→「エクスポート」</a:t>
            </a:r>
            <a:endParaRPr lang="en-US" altLang="ja-JP" dirty="0"/>
          </a:p>
        </p:txBody>
      </p:sp>
      <p:pic>
        <p:nvPicPr>
          <p:cNvPr id="6" name="図 5">
            <a:extLst>
              <a:ext uri="{FF2B5EF4-FFF2-40B4-BE49-F238E27FC236}">
                <a16:creationId xmlns:a16="http://schemas.microsoft.com/office/drawing/2014/main" id="{D28D7ADB-4DA0-DC8E-891B-75422CA8DC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2341" y="2729677"/>
            <a:ext cx="4979659" cy="3963212"/>
          </a:xfrm>
          <a:prstGeom prst="rect">
            <a:avLst/>
          </a:prstGeom>
        </p:spPr>
      </p:pic>
      <p:sp>
        <p:nvSpPr>
          <p:cNvPr id="8" name="正方形/長方形 7">
            <a:extLst>
              <a:ext uri="{FF2B5EF4-FFF2-40B4-BE49-F238E27FC236}">
                <a16:creationId xmlns:a16="http://schemas.microsoft.com/office/drawing/2014/main" id="{96EA2CFC-276A-4EFD-336A-1CE5764E6903}"/>
              </a:ext>
            </a:extLst>
          </p:cNvPr>
          <p:cNvSpPr/>
          <p:nvPr/>
        </p:nvSpPr>
        <p:spPr>
          <a:xfrm>
            <a:off x="11437998" y="3376437"/>
            <a:ext cx="740595" cy="2744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2D184A9-E912-635E-38FF-37DEF7785CA6}"/>
              </a:ext>
            </a:extLst>
          </p:cNvPr>
          <p:cNvSpPr/>
          <p:nvPr/>
        </p:nvSpPr>
        <p:spPr>
          <a:xfrm>
            <a:off x="8068037" y="3684758"/>
            <a:ext cx="940496" cy="2744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11EC0468-131C-A1C0-3076-3C21B85F05E8}"/>
              </a:ext>
            </a:extLst>
          </p:cNvPr>
          <p:cNvSpPr/>
          <p:nvPr/>
        </p:nvSpPr>
        <p:spPr>
          <a:xfrm>
            <a:off x="11390736" y="6401501"/>
            <a:ext cx="740595" cy="2744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57A89EB6-6189-7A75-9EFC-E72848C2D686}"/>
              </a:ext>
            </a:extLst>
          </p:cNvPr>
          <p:cNvSpPr>
            <a:spLocks noGrp="1"/>
          </p:cNvSpPr>
          <p:nvPr>
            <p:ph type="sldNum" sz="quarter" idx="12"/>
          </p:nvPr>
        </p:nvSpPr>
        <p:spPr/>
        <p:txBody>
          <a:bodyPr/>
          <a:lstStyle/>
          <a:p>
            <a:fld id="{FDD896F4-601B-4F0E-8AC8-6F1BA59B2012}" type="slidenum">
              <a:rPr kumimoji="1" lang="ja-JP" altLang="en-US" smtClean="0"/>
              <a:t>22</a:t>
            </a:fld>
            <a:endParaRPr kumimoji="1" lang="ja-JP" altLang="en-US"/>
          </a:p>
        </p:txBody>
      </p:sp>
    </p:spTree>
    <p:extLst>
      <p:ext uri="{BB962C8B-B14F-4D97-AF65-F5344CB8AC3E}">
        <p14:creationId xmlns:p14="http://schemas.microsoft.com/office/powerpoint/2010/main" val="402679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E2EDE-88E2-BFC6-AC53-BD57B425CE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C2B7CA2-3392-ED2B-5E49-B3823445EC9B}"/>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ja-JP" altLang="en-US" sz="3600" dirty="0"/>
              <a:t>２</a:t>
            </a:r>
            <a:r>
              <a:rPr lang="en-US" altLang="ja-JP" sz="3600" dirty="0"/>
              <a:t>. </a:t>
            </a:r>
            <a:r>
              <a:rPr lang="ja-JP" altLang="en-US" sz="3600" dirty="0"/>
              <a:t>トレーニング</a:t>
            </a:r>
            <a:endParaRPr kumimoji="1" lang="ja-JP" altLang="en-US" dirty="0"/>
          </a:p>
        </p:txBody>
      </p:sp>
      <p:sp>
        <p:nvSpPr>
          <p:cNvPr id="3" name="コンテンツ プレースホルダー 2">
            <a:extLst>
              <a:ext uri="{FF2B5EF4-FFF2-40B4-BE49-F238E27FC236}">
                <a16:creationId xmlns:a16="http://schemas.microsoft.com/office/drawing/2014/main" id="{DCC66EB5-7D59-8226-7518-B8201E382AF0}"/>
              </a:ext>
            </a:extLst>
          </p:cNvPr>
          <p:cNvSpPr>
            <a:spLocks noGrp="1"/>
          </p:cNvSpPr>
          <p:nvPr>
            <p:ph idx="1"/>
          </p:nvPr>
        </p:nvSpPr>
        <p:spPr/>
        <p:txBody>
          <a:bodyPr>
            <a:normAutofit/>
          </a:bodyPr>
          <a:lstStyle/>
          <a:p>
            <a:r>
              <a:rPr lang="ja-JP" altLang="en-US" dirty="0"/>
              <a:t>「</a:t>
            </a:r>
            <a:r>
              <a:rPr lang="en-US" altLang="ja-JP" dirty="0"/>
              <a:t>RVC-beta0717</a:t>
            </a:r>
            <a:r>
              <a:rPr lang="ja-JP" altLang="en-US" dirty="0"/>
              <a:t>」内の「</a:t>
            </a:r>
            <a:r>
              <a:rPr lang="en-US" altLang="ja-JP" dirty="0"/>
              <a:t>go-web</a:t>
            </a:r>
            <a:r>
              <a:rPr lang="ja-JP" altLang="en-US" dirty="0"/>
              <a:t>」を実行（ダブルクリック）</a:t>
            </a:r>
            <a:endParaRPr lang="en-US" altLang="ja-JP" dirty="0"/>
          </a:p>
          <a:p>
            <a:endParaRPr lang="en-US" altLang="ja-JP" dirty="0"/>
          </a:p>
          <a:p>
            <a:endParaRPr lang="en-US" altLang="ja-JP" dirty="0"/>
          </a:p>
          <a:p>
            <a:endParaRPr lang="en-US" altLang="ja-JP" dirty="0"/>
          </a:p>
          <a:p>
            <a:r>
              <a:rPr lang="en-US" altLang="ja-JP" dirty="0"/>
              <a:t>Web-UI</a:t>
            </a:r>
            <a:r>
              <a:rPr lang="ja-JP" altLang="en-US" dirty="0"/>
              <a:t>起動後、上のメニューから「トレーニング」を選択</a:t>
            </a:r>
            <a:endParaRPr lang="en-US" altLang="ja-JP" dirty="0"/>
          </a:p>
        </p:txBody>
      </p:sp>
      <p:pic>
        <p:nvPicPr>
          <p:cNvPr id="5" name="図 4">
            <a:extLst>
              <a:ext uri="{FF2B5EF4-FFF2-40B4-BE49-F238E27FC236}">
                <a16:creationId xmlns:a16="http://schemas.microsoft.com/office/drawing/2014/main" id="{76BF5BD8-FCC0-3D5C-07C0-C7C6DFDC0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2761" y="2426498"/>
            <a:ext cx="6068272" cy="1190791"/>
          </a:xfrm>
          <a:prstGeom prst="rect">
            <a:avLst/>
          </a:prstGeom>
        </p:spPr>
      </p:pic>
      <p:sp>
        <p:nvSpPr>
          <p:cNvPr id="9" name="正方形/長方形 8">
            <a:extLst>
              <a:ext uri="{FF2B5EF4-FFF2-40B4-BE49-F238E27FC236}">
                <a16:creationId xmlns:a16="http://schemas.microsoft.com/office/drawing/2014/main" id="{ACAC5BD9-F13B-E4C0-15E8-177C5D67B998}"/>
              </a:ext>
            </a:extLst>
          </p:cNvPr>
          <p:cNvSpPr/>
          <p:nvPr/>
        </p:nvSpPr>
        <p:spPr>
          <a:xfrm>
            <a:off x="7229188" y="3036181"/>
            <a:ext cx="940496" cy="2744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a:extLst>
              <a:ext uri="{FF2B5EF4-FFF2-40B4-BE49-F238E27FC236}">
                <a16:creationId xmlns:a16="http://schemas.microsoft.com/office/drawing/2014/main" id="{85DADC91-687B-CDD7-65CE-0F25401EED5A}"/>
              </a:ext>
            </a:extLst>
          </p:cNvPr>
          <p:cNvPicPr>
            <a:picLocks noChangeAspect="1"/>
          </p:cNvPicPr>
          <p:nvPr/>
        </p:nvPicPr>
        <p:blipFill>
          <a:blip r:embed="rId3">
            <a:extLst>
              <a:ext uri="{28A0092B-C50C-407E-A947-70E740481C1C}">
                <a14:useLocalDpi xmlns:a14="http://schemas.microsoft.com/office/drawing/2010/main" val="0"/>
              </a:ext>
            </a:extLst>
          </a:blip>
          <a:srcRect b="64615"/>
          <a:stretch>
            <a:fillRect/>
          </a:stretch>
        </p:blipFill>
        <p:spPr>
          <a:xfrm>
            <a:off x="1691703" y="4488153"/>
            <a:ext cx="10069330" cy="1688810"/>
          </a:xfrm>
          <a:prstGeom prst="rect">
            <a:avLst/>
          </a:prstGeom>
        </p:spPr>
      </p:pic>
      <p:sp>
        <p:nvSpPr>
          <p:cNvPr id="12" name="正方形/長方形 11">
            <a:extLst>
              <a:ext uri="{FF2B5EF4-FFF2-40B4-BE49-F238E27FC236}">
                <a16:creationId xmlns:a16="http://schemas.microsoft.com/office/drawing/2014/main" id="{BF0BF8C1-CEEB-3229-6B9E-752E8E76B085}"/>
              </a:ext>
            </a:extLst>
          </p:cNvPr>
          <p:cNvSpPr/>
          <p:nvPr/>
        </p:nvSpPr>
        <p:spPr>
          <a:xfrm>
            <a:off x="5111115" y="4603044"/>
            <a:ext cx="940496" cy="2744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BD0B1282-29AA-45FB-614B-335E74480606}"/>
              </a:ext>
            </a:extLst>
          </p:cNvPr>
          <p:cNvSpPr>
            <a:spLocks noGrp="1"/>
          </p:cNvSpPr>
          <p:nvPr>
            <p:ph type="sldNum" sz="quarter" idx="12"/>
          </p:nvPr>
        </p:nvSpPr>
        <p:spPr/>
        <p:txBody>
          <a:bodyPr/>
          <a:lstStyle/>
          <a:p>
            <a:fld id="{FDD896F4-601B-4F0E-8AC8-6F1BA59B2012}" type="slidenum">
              <a:rPr kumimoji="1" lang="ja-JP" altLang="en-US" smtClean="0"/>
              <a:t>23</a:t>
            </a:fld>
            <a:endParaRPr kumimoji="1" lang="ja-JP" altLang="en-US"/>
          </a:p>
        </p:txBody>
      </p:sp>
    </p:spTree>
    <p:extLst>
      <p:ext uri="{BB962C8B-B14F-4D97-AF65-F5344CB8AC3E}">
        <p14:creationId xmlns:p14="http://schemas.microsoft.com/office/powerpoint/2010/main" val="97215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ACA37-8705-B66A-30A8-1B3A57D6D8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7118DC-7E81-538B-CA29-7F28B85A420D}"/>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ja-JP" altLang="en-US" sz="3600" dirty="0"/>
              <a:t>２</a:t>
            </a:r>
            <a:r>
              <a:rPr lang="en-US" altLang="ja-JP" sz="3600" dirty="0"/>
              <a:t>. </a:t>
            </a:r>
            <a:r>
              <a:rPr lang="ja-JP" altLang="en-US" sz="3600" dirty="0"/>
              <a:t>トレーニング</a:t>
            </a:r>
            <a:endParaRPr kumimoji="1" lang="ja-JP" altLang="en-US" dirty="0"/>
          </a:p>
        </p:txBody>
      </p:sp>
      <p:sp>
        <p:nvSpPr>
          <p:cNvPr id="3" name="コンテンツ プレースホルダー 2">
            <a:extLst>
              <a:ext uri="{FF2B5EF4-FFF2-40B4-BE49-F238E27FC236}">
                <a16:creationId xmlns:a16="http://schemas.microsoft.com/office/drawing/2014/main" id="{D1234823-E2E5-E2E5-7234-946F13603C30}"/>
              </a:ext>
            </a:extLst>
          </p:cNvPr>
          <p:cNvSpPr>
            <a:spLocks noGrp="1"/>
          </p:cNvSpPr>
          <p:nvPr>
            <p:ph idx="1"/>
          </p:nvPr>
        </p:nvSpPr>
        <p:spPr/>
        <p:txBody>
          <a:bodyPr>
            <a:normAutofit/>
          </a:bodyPr>
          <a:lstStyle/>
          <a:p>
            <a:r>
              <a:rPr lang="ja-JP" altLang="en-US" dirty="0"/>
              <a:t>ステップ１　設定</a:t>
            </a:r>
            <a:endParaRPr lang="en-US" altLang="ja-JP" dirty="0"/>
          </a:p>
          <a:p>
            <a:pPr lvl="1">
              <a:buFont typeface="Wingdings" panose="05000000000000000000" pitchFamily="2" charset="2"/>
              <a:buChar char="ü"/>
            </a:pPr>
            <a:r>
              <a:rPr lang="ja-JP" altLang="en-US" dirty="0"/>
              <a:t>モデル名：任意の名前に設定</a:t>
            </a:r>
            <a:endParaRPr lang="en-US" altLang="ja-JP" dirty="0"/>
          </a:p>
          <a:p>
            <a:pPr lvl="1">
              <a:buFont typeface="Wingdings" panose="05000000000000000000" pitchFamily="2" charset="2"/>
              <a:buChar char="ü"/>
            </a:pPr>
            <a:r>
              <a:rPr lang="ja-JP" altLang="en-US" dirty="0"/>
              <a:t>目標サンプリングレート：「</a:t>
            </a:r>
            <a:r>
              <a:rPr lang="en-US" altLang="ja-JP" dirty="0"/>
              <a:t>48k</a:t>
            </a:r>
            <a:r>
              <a:rPr lang="ja-JP" altLang="en-US" dirty="0"/>
              <a:t>」を選択</a:t>
            </a:r>
            <a:endParaRPr lang="en-US" altLang="ja-JP" dirty="0"/>
          </a:p>
          <a:p>
            <a:pPr lvl="1">
              <a:buFont typeface="Wingdings" panose="05000000000000000000" pitchFamily="2" charset="2"/>
              <a:buChar char="ü"/>
            </a:pPr>
            <a:r>
              <a:rPr lang="ja-JP" altLang="en-US" dirty="0"/>
              <a:t>バージョン：「</a:t>
            </a:r>
            <a:r>
              <a:rPr lang="en-US" altLang="ja-JP" dirty="0"/>
              <a:t>v2</a:t>
            </a:r>
            <a:r>
              <a:rPr lang="ja-JP" altLang="en-US" dirty="0"/>
              <a:t>」を選択</a:t>
            </a:r>
            <a:endParaRPr lang="en-US" altLang="ja-JP" dirty="0"/>
          </a:p>
        </p:txBody>
      </p:sp>
      <p:pic>
        <p:nvPicPr>
          <p:cNvPr id="6" name="図 5">
            <a:extLst>
              <a:ext uri="{FF2B5EF4-FFF2-40B4-BE49-F238E27FC236}">
                <a16:creationId xmlns:a16="http://schemas.microsoft.com/office/drawing/2014/main" id="{DAF4F277-4BEF-1FCF-4FC6-B01C2917C1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8826" y="3760621"/>
            <a:ext cx="9669224" cy="1819529"/>
          </a:xfrm>
          <a:prstGeom prst="rect">
            <a:avLst/>
          </a:prstGeom>
        </p:spPr>
      </p:pic>
      <p:sp>
        <p:nvSpPr>
          <p:cNvPr id="12" name="正方形/長方形 11">
            <a:extLst>
              <a:ext uri="{FF2B5EF4-FFF2-40B4-BE49-F238E27FC236}">
                <a16:creationId xmlns:a16="http://schemas.microsoft.com/office/drawing/2014/main" id="{6621DE27-7EB4-7C68-D9BC-D2C67C02267B}"/>
              </a:ext>
            </a:extLst>
          </p:cNvPr>
          <p:cNvSpPr/>
          <p:nvPr/>
        </p:nvSpPr>
        <p:spPr>
          <a:xfrm>
            <a:off x="4096703" y="4957764"/>
            <a:ext cx="632460" cy="319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48731933-9100-D280-3963-620421742442}"/>
              </a:ext>
            </a:extLst>
          </p:cNvPr>
          <p:cNvSpPr/>
          <p:nvPr/>
        </p:nvSpPr>
        <p:spPr>
          <a:xfrm>
            <a:off x="7806691" y="4957763"/>
            <a:ext cx="632460" cy="319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F098132D-A18C-F5FD-6D9A-92BEFC3E21F2}"/>
              </a:ext>
            </a:extLst>
          </p:cNvPr>
          <p:cNvSpPr>
            <a:spLocks noGrp="1"/>
          </p:cNvSpPr>
          <p:nvPr>
            <p:ph type="sldNum" sz="quarter" idx="12"/>
          </p:nvPr>
        </p:nvSpPr>
        <p:spPr/>
        <p:txBody>
          <a:bodyPr/>
          <a:lstStyle/>
          <a:p>
            <a:fld id="{FDD896F4-601B-4F0E-8AC8-6F1BA59B2012}" type="slidenum">
              <a:rPr kumimoji="1" lang="ja-JP" altLang="en-US" smtClean="0"/>
              <a:t>24</a:t>
            </a:fld>
            <a:endParaRPr kumimoji="1" lang="ja-JP" altLang="en-US"/>
          </a:p>
        </p:txBody>
      </p:sp>
    </p:spTree>
    <p:extLst>
      <p:ext uri="{BB962C8B-B14F-4D97-AF65-F5344CB8AC3E}">
        <p14:creationId xmlns:p14="http://schemas.microsoft.com/office/powerpoint/2010/main" val="280817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568F-F533-FB24-A36B-9CF6BAC7337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D9B2D8-D7FB-9527-71FD-FF12C6DCBDB0}"/>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ja-JP" altLang="en-US" sz="3600" dirty="0"/>
              <a:t>２</a:t>
            </a:r>
            <a:r>
              <a:rPr lang="en-US" altLang="ja-JP" sz="3600" dirty="0"/>
              <a:t>. </a:t>
            </a:r>
            <a:r>
              <a:rPr lang="ja-JP" altLang="en-US" sz="3600" dirty="0"/>
              <a:t>トレーニング</a:t>
            </a:r>
            <a:endParaRPr kumimoji="1" lang="ja-JP" altLang="en-US" dirty="0"/>
          </a:p>
        </p:txBody>
      </p:sp>
      <p:sp>
        <p:nvSpPr>
          <p:cNvPr id="3" name="コンテンツ プレースホルダー 2">
            <a:extLst>
              <a:ext uri="{FF2B5EF4-FFF2-40B4-BE49-F238E27FC236}">
                <a16:creationId xmlns:a16="http://schemas.microsoft.com/office/drawing/2014/main" id="{CCAC8C54-06BA-BC29-190A-8FDA14C3F054}"/>
              </a:ext>
            </a:extLst>
          </p:cNvPr>
          <p:cNvSpPr>
            <a:spLocks noGrp="1"/>
          </p:cNvSpPr>
          <p:nvPr>
            <p:ph idx="1"/>
          </p:nvPr>
        </p:nvSpPr>
        <p:spPr>
          <a:xfrm>
            <a:off x="838200" y="1825625"/>
            <a:ext cx="10515600" cy="4846638"/>
          </a:xfrm>
        </p:spPr>
        <p:txBody>
          <a:bodyPr>
            <a:normAutofit/>
          </a:bodyPr>
          <a:lstStyle/>
          <a:p>
            <a:r>
              <a:rPr lang="ja-JP" altLang="en-US" dirty="0"/>
              <a:t>ステップ２</a:t>
            </a:r>
            <a:r>
              <a:rPr lang="en-US" altLang="ja-JP" dirty="0"/>
              <a:t>a</a:t>
            </a:r>
            <a:r>
              <a:rPr lang="ja-JP" altLang="en-US" dirty="0"/>
              <a:t>　音声ファイルの正規化</a:t>
            </a:r>
            <a:endParaRPr lang="en-US" altLang="ja-JP" dirty="0"/>
          </a:p>
          <a:p>
            <a:pPr lvl="1">
              <a:buFont typeface="Wingdings" panose="05000000000000000000" pitchFamily="2" charset="2"/>
              <a:buChar char="ü"/>
            </a:pPr>
            <a:r>
              <a:rPr lang="ja-JP" altLang="en-US" dirty="0"/>
              <a:t>トレーニング用フォルダのパス：</a:t>
            </a:r>
            <a:br>
              <a:rPr lang="en-US" altLang="ja-JP" dirty="0"/>
            </a:br>
            <a:r>
              <a:rPr lang="ja-JP" altLang="en-US" dirty="0"/>
              <a:t>　　先ほど編集した音声ファイルを入れた</a:t>
            </a:r>
            <a:r>
              <a:rPr lang="ja-JP" altLang="en-US" b="1" dirty="0">
                <a:solidFill>
                  <a:srgbClr val="FF0000"/>
                </a:solidFill>
              </a:rPr>
              <a:t>フォルダのパス</a:t>
            </a:r>
            <a:r>
              <a:rPr lang="ja-JP" altLang="en-US" dirty="0"/>
              <a:t>を入力</a:t>
            </a:r>
            <a:br>
              <a:rPr lang="en-US" altLang="ja-JP" dirty="0"/>
            </a:br>
            <a:r>
              <a:rPr lang="en-US" altLang="ja-JP" dirty="0"/>
              <a:t>	</a:t>
            </a:r>
            <a:r>
              <a:rPr lang="ja-JP" altLang="en-US" dirty="0"/>
              <a:t>　（パスをコピー＆ペーストする場合、パスの前後の“”を削す）</a:t>
            </a:r>
            <a:endParaRPr lang="en-US" altLang="ja-JP" dirty="0"/>
          </a:p>
          <a:p>
            <a:pPr lvl="1">
              <a:buFont typeface="Wingdings" panose="05000000000000000000" pitchFamily="2" charset="2"/>
              <a:buChar char="ü"/>
            </a:pPr>
            <a:r>
              <a:rPr lang="ja-JP" altLang="en-US" dirty="0"/>
              <a:t>「データ処理」をクリック</a:t>
            </a:r>
            <a:br>
              <a:rPr lang="en-US" altLang="ja-JP" dirty="0"/>
            </a:br>
            <a:r>
              <a:rPr lang="ja-JP" altLang="en-US" dirty="0"/>
              <a:t>　→「</a:t>
            </a:r>
            <a:r>
              <a:rPr lang="en-US" altLang="ja-JP" dirty="0"/>
              <a:t>end preprocess</a:t>
            </a:r>
            <a:r>
              <a:rPr lang="ja-JP" altLang="en-US" dirty="0"/>
              <a:t>」と出たら終了</a:t>
            </a:r>
            <a:endParaRPr lang="en-US" altLang="ja-JP" dirty="0"/>
          </a:p>
          <a:p>
            <a:pPr lvl="1">
              <a:buFont typeface="Wingdings" panose="05000000000000000000" pitchFamily="2" charset="2"/>
              <a:buChar char="ü"/>
            </a:pPr>
            <a:endParaRPr lang="en-US" altLang="ja-JP" dirty="0"/>
          </a:p>
          <a:p>
            <a:r>
              <a:rPr lang="ja-JP" altLang="en-US" dirty="0"/>
              <a:t>ステップ２</a:t>
            </a:r>
            <a:r>
              <a:rPr lang="en-US" altLang="ja-JP" dirty="0"/>
              <a:t>b</a:t>
            </a:r>
            <a:r>
              <a:rPr lang="ja-JP" altLang="en-US" dirty="0"/>
              <a:t>　音高抽出</a:t>
            </a:r>
            <a:endParaRPr lang="en-US" altLang="ja-JP" dirty="0"/>
          </a:p>
          <a:p>
            <a:pPr lvl="1">
              <a:buFont typeface="Wingdings" panose="05000000000000000000" pitchFamily="2" charset="2"/>
              <a:buChar char="ü"/>
            </a:pPr>
            <a:r>
              <a:rPr lang="ja-JP" altLang="en-US" dirty="0"/>
              <a:t>「</a:t>
            </a:r>
            <a:r>
              <a:rPr lang="en-US" altLang="ja-JP" dirty="0"/>
              <a:t>GPU</a:t>
            </a:r>
            <a:r>
              <a:rPr lang="ja-JP" altLang="en-US" dirty="0"/>
              <a:t>情報」の欄で自分の</a:t>
            </a:r>
            <a:r>
              <a:rPr lang="en-US" altLang="ja-JP" dirty="0"/>
              <a:t>PC</a:t>
            </a:r>
            <a:r>
              <a:rPr lang="ja-JP" altLang="en-US" dirty="0"/>
              <a:t>の</a:t>
            </a:r>
            <a:r>
              <a:rPr lang="en-US" altLang="ja-JP" dirty="0"/>
              <a:t>GPU</a:t>
            </a:r>
            <a:r>
              <a:rPr lang="ja-JP" altLang="en-US" dirty="0"/>
              <a:t>が選択されているか確認</a:t>
            </a:r>
            <a:endParaRPr lang="en-US" altLang="ja-JP" dirty="0"/>
          </a:p>
          <a:p>
            <a:pPr lvl="1">
              <a:buFont typeface="Wingdings" panose="05000000000000000000" pitchFamily="2" charset="2"/>
              <a:buChar char="ü"/>
            </a:pPr>
            <a:r>
              <a:rPr lang="ja-JP" altLang="en-US" dirty="0"/>
              <a:t>求める品質や</a:t>
            </a:r>
            <a:r>
              <a:rPr lang="en-US" altLang="ja-JP" dirty="0"/>
              <a:t>PC</a:t>
            </a:r>
            <a:r>
              <a:rPr lang="ja-JP" altLang="en-US" dirty="0"/>
              <a:t>のスペックに応じて音高抽出アルゴリズムを選択</a:t>
            </a:r>
            <a:endParaRPr lang="en-US" altLang="ja-JP" dirty="0"/>
          </a:p>
          <a:p>
            <a:pPr lvl="1">
              <a:buFont typeface="Wingdings" panose="05000000000000000000" pitchFamily="2" charset="2"/>
              <a:buChar char="ü"/>
            </a:pPr>
            <a:r>
              <a:rPr lang="ja-JP" altLang="en-US" dirty="0"/>
              <a:t>「特徴抽出」をクリック</a:t>
            </a:r>
            <a:br>
              <a:rPr lang="en-US" altLang="ja-JP" dirty="0"/>
            </a:br>
            <a:r>
              <a:rPr lang="ja-JP" altLang="en-US" dirty="0"/>
              <a:t>　→「</a:t>
            </a:r>
            <a:r>
              <a:rPr lang="en-US" altLang="ja-JP" dirty="0"/>
              <a:t>all-future done</a:t>
            </a:r>
            <a:r>
              <a:rPr lang="ja-JP" altLang="en-US" dirty="0"/>
              <a:t>」と出たら終了</a:t>
            </a:r>
            <a:endParaRPr lang="en-US" altLang="ja-JP" dirty="0"/>
          </a:p>
        </p:txBody>
      </p:sp>
      <p:sp>
        <p:nvSpPr>
          <p:cNvPr id="4" name="スライド番号プレースホルダー 3">
            <a:extLst>
              <a:ext uri="{FF2B5EF4-FFF2-40B4-BE49-F238E27FC236}">
                <a16:creationId xmlns:a16="http://schemas.microsoft.com/office/drawing/2014/main" id="{58F28172-17D9-0403-ED04-AFAFE8C978B0}"/>
              </a:ext>
            </a:extLst>
          </p:cNvPr>
          <p:cNvSpPr>
            <a:spLocks noGrp="1"/>
          </p:cNvSpPr>
          <p:nvPr>
            <p:ph type="sldNum" sz="quarter" idx="12"/>
          </p:nvPr>
        </p:nvSpPr>
        <p:spPr/>
        <p:txBody>
          <a:bodyPr/>
          <a:lstStyle/>
          <a:p>
            <a:fld id="{FDD896F4-601B-4F0E-8AC8-6F1BA59B2012}" type="slidenum">
              <a:rPr kumimoji="1" lang="ja-JP" altLang="en-US" smtClean="0"/>
              <a:t>25</a:t>
            </a:fld>
            <a:endParaRPr kumimoji="1" lang="ja-JP" altLang="en-US"/>
          </a:p>
        </p:txBody>
      </p:sp>
    </p:spTree>
    <p:extLst>
      <p:ext uri="{BB962C8B-B14F-4D97-AF65-F5344CB8AC3E}">
        <p14:creationId xmlns:p14="http://schemas.microsoft.com/office/powerpoint/2010/main" val="3380494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32A98-229F-9D78-5DA7-9804BE31AE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4F326B-819A-959E-81BC-BFEAAD9276C2}"/>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ja-JP" altLang="en-US" sz="3600" dirty="0"/>
              <a:t>２</a:t>
            </a:r>
            <a:r>
              <a:rPr lang="en-US" altLang="ja-JP" sz="3600" dirty="0"/>
              <a:t>. </a:t>
            </a:r>
            <a:r>
              <a:rPr lang="ja-JP" altLang="en-US" sz="3600" dirty="0"/>
              <a:t>トレーニング</a:t>
            </a:r>
            <a:endParaRPr kumimoji="1" lang="ja-JP" altLang="en-US" dirty="0"/>
          </a:p>
        </p:txBody>
      </p:sp>
      <p:sp>
        <p:nvSpPr>
          <p:cNvPr id="3" name="コンテンツ プレースホルダー 2">
            <a:extLst>
              <a:ext uri="{FF2B5EF4-FFF2-40B4-BE49-F238E27FC236}">
                <a16:creationId xmlns:a16="http://schemas.microsoft.com/office/drawing/2014/main" id="{61F9B07C-1E0C-9750-9F01-51F5C1DB24C0}"/>
              </a:ext>
            </a:extLst>
          </p:cNvPr>
          <p:cNvSpPr>
            <a:spLocks noGrp="1"/>
          </p:cNvSpPr>
          <p:nvPr>
            <p:ph idx="1"/>
          </p:nvPr>
        </p:nvSpPr>
        <p:spPr>
          <a:xfrm>
            <a:off x="838200" y="1825625"/>
            <a:ext cx="10515600" cy="4895850"/>
          </a:xfrm>
        </p:spPr>
        <p:txBody>
          <a:bodyPr>
            <a:normAutofit/>
          </a:bodyPr>
          <a:lstStyle/>
          <a:p>
            <a:r>
              <a:rPr lang="ja-JP" altLang="en-US" dirty="0"/>
              <a:t>ステップ３　トレーニング</a:t>
            </a:r>
            <a:endParaRPr lang="en-US" altLang="ja-JP" dirty="0"/>
          </a:p>
          <a:p>
            <a:pPr lvl="1">
              <a:buFont typeface="Wingdings" panose="05000000000000000000" pitchFamily="2" charset="2"/>
              <a:buChar char="ü"/>
            </a:pPr>
            <a:r>
              <a:rPr lang="ja-JP" altLang="en-US" dirty="0"/>
              <a:t>求める品質、</a:t>
            </a:r>
            <a:r>
              <a:rPr lang="en-US" altLang="ja-JP" dirty="0"/>
              <a:t>PC</a:t>
            </a:r>
            <a:r>
              <a:rPr lang="ja-JP" altLang="en-US" dirty="0"/>
              <a:t>のスペックに応じて各パラメータを調整</a:t>
            </a:r>
            <a:br>
              <a:rPr lang="en-US" altLang="ja-JP" dirty="0"/>
            </a:br>
            <a:r>
              <a:rPr lang="ja-JP" altLang="en-US" dirty="0"/>
              <a:t>（基本はデフォルト設定のままで良い）</a:t>
            </a: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r>
              <a:rPr lang="ja-JP" altLang="en-US" dirty="0"/>
              <a:t>「ワンクリックトレーニング」をクリック</a:t>
            </a:r>
            <a:br>
              <a:rPr lang="en-US" altLang="ja-JP" dirty="0"/>
            </a:br>
            <a:r>
              <a:rPr lang="ja-JP" altLang="en-US" dirty="0"/>
              <a:t>　→隣の出力情報に</a:t>
            </a:r>
            <a:br>
              <a:rPr lang="en-US" altLang="ja-JP" dirty="0"/>
            </a:br>
            <a:r>
              <a:rPr lang="en-US" altLang="ja-JP" dirty="0"/>
              <a:t>		</a:t>
            </a:r>
            <a:r>
              <a:rPr lang="ja-JP" altLang="en-US" dirty="0"/>
              <a:t>「</a:t>
            </a:r>
            <a:r>
              <a:rPr lang="en-US" altLang="ja-JP" dirty="0"/>
              <a:t>saving final </a:t>
            </a:r>
            <a:r>
              <a:rPr lang="en-US" altLang="ja-JP" dirty="0" err="1"/>
              <a:t>ckpt:Success</a:t>
            </a:r>
            <a:r>
              <a:rPr lang="en-US" altLang="ja-JP" dirty="0"/>
              <a:t>.</a:t>
            </a:r>
            <a:r>
              <a:rPr lang="ja-JP" altLang="en-US" dirty="0"/>
              <a:t>」</a:t>
            </a:r>
            <a:r>
              <a:rPr lang="en-US" altLang="ja-JP" dirty="0"/>
              <a:t>/</a:t>
            </a:r>
            <a:r>
              <a:rPr lang="ja-JP" altLang="en-US" dirty="0"/>
              <a:t>「全工程が完了！」</a:t>
            </a:r>
            <a:br>
              <a:rPr lang="en-US" altLang="ja-JP" dirty="0"/>
            </a:br>
            <a:r>
              <a:rPr lang="en-US" altLang="ja-JP" dirty="0"/>
              <a:t>									</a:t>
            </a:r>
            <a:r>
              <a:rPr lang="ja-JP" altLang="en-US" dirty="0"/>
              <a:t>と出たら完了</a:t>
            </a:r>
            <a:br>
              <a:rPr lang="en-US" altLang="ja-JP" dirty="0"/>
            </a:br>
            <a:endParaRPr lang="en-US" altLang="ja-JP" dirty="0"/>
          </a:p>
          <a:p>
            <a:pPr lvl="1">
              <a:buFont typeface="Wingdings" panose="05000000000000000000" pitchFamily="2" charset="2"/>
              <a:buChar char="ü"/>
            </a:pPr>
            <a:r>
              <a:rPr lang="ja-JP" altLang="en-US" b="1" dirty="0"/>
              <a:t>作成されたモデルは「</a:t>
            </a:r>
            <a:r>
              <a:rPr lang="en-US" altLang="ja-JP" b="1" dirty="0"/>
              <a:t>RVC-beta0717/weights</a:t>
            </a:r>
            <a:r>
              <a:rPr lang="ja-JP" altLang="en-US" b="1" dirty="0"/>
              <a:t>」の中に保存される</a:t>
            </a:r>
            <a:br>
              <a:rPr lang="en-US" altLang="ja-JP" dirty="0"/>
            </a:br>
            <a:r>
              <a:rPr lang="en-US" altLang="ja-JP" dirty="0" err="1"/>
              <a:t>rvc</a:t>
            </a:r>
            <a:r>
              <a:rPr lang="en-US" altLang="ja-JP" dirty="0"/>
              <a:t>-python</a:t>
            </a:r>
            <a:r>
              <a:rPr lang="ja-JP" altLang="en-US" dirty="0"/>
              <a:t>等</a:t>
            </a:r>
            <a:r>
              <a:rPr lang="en-US" altLang="ja-JP" dirty="0"/>
              <a:t>Web-UI</a:t>
            </a:r>
            <a:r>
              <a:rPr lang="ja-JP" altLang="en-US" dirty="0"/>
              <a:t>以外でモデルを指定する際はここに保存されたファイルを用いる　　</a:t>
            </a:r>
            <a:endParaRPr lang="en-US" altLang="ja-JP" dirty="0"/>
          </a:p>
        </p:txBody>
      </p:sp>
      <p:sp>
        <p:nvSpPr>
          <p:cNvPr id="4" name="スライド番号プレースホルダー 3">
            <a:extLst>
              <a:ext uri="{FF2B5EF4-FFF2-40B4-BE49-F238E27FC236}">
                <a16:creationId xmlns:a16="http://schemas.microsoft.com/office/drawing/2014/main" id="{6CDB28A0-1574-44E2-EFAB-9A46D1DA7B2F}"/>
              </a:ext>
            </a:extLst>
          </p:cNvPr>
          <p:cNvSpPr>
            <a:spLocks noGrp="1"/>
          </p:cNvSpPr>
          <p:nvPr>
            <p:ph type="sldNum" sz="quarter" idx="12"/>
          </p:nvPr>
        </p:nvSpPr>
        <p:spPr/>
        <p:txBody>
          <a:bodyPr/>
          <a:lstStyle/>
          <a:p>
            <a:fld id="{FDD896F4-601B-4F0E-8AC8-6F1BA59B2012}" type="slidenum">
              <a:rPr kumimoji="1" lang="ja-JP" altLang="en-US" smtClean="0"/>
              <a:t>26</a:t>
            </a:fld>
            <a:endParaRPr kumimoji="1" lang="ja-JP" altLang="en-US"/>
          </a:p>
        </p:txBody>
      </p:sp>
    </p:spTree>
    <p:extLst>
      <p:ext uri="{BB962C8B-B14F-4D97-AF65-F5344CB8AC3E}">
        <p14:creationId xmlns:p14="http://schemas.microsoft.com/office/powerpoint/2010/main" val="3627564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FBB4-32FD-E617-DC38-A46E2076D1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D6A486-AB51-10DD-1F8A-5551E0A7BFF6}"/>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ja-JP" altLang="en-US" sz="3600" dirty="0"/>
              <a:t>３</a:t>
            </a:r>
            <a:r>
              <a:rPr lang="en-US" altLang="ja-JP" sz="3600" dirty="0"/>
              <a:t>. </a:t>
            </a:r>
            <a:r>
              <a:rPr lang="ja-JP" altLang="en-US" sz="3600" dirty="0"/>
              <a:t>音声変換</a:t>
            </a:r>
            <a:endParaRPr kumimoji="1" lang="ja-JP" altLang="en-US" dirty="0"/>
          </a:p>
        </p:txBody>
      </p:sp>
      <p:sp>
        <p:nvSpPr>
          <p:cNvPr id="3" name="コンテンツ プレースホルダー 2">
            <a:extLst>
              <a:ext uri="{FF2B5EF4-FFF2-40B4-BE49-F238E27FC236}">
                <a16:creationId xmlns:a16="http://schemas.microsoft.com/office/drawing/2014/main" id="{4DD39438-1DBF-3342-412B-007D5981EAEC}"/>
              </a:ext>
            </a:extLst>
          </p:cNvPr>
          <p:cNvSpPr>
            <a:spLocks noGrp="1"/>
          </p:cNvSpPr>
          <p:nvPr>
            <p:ph idx="1"/>
          </p:nvPr>
        </p:nvSpPr>
        <p:spPr/>
        <p:txBody>
          <a:bodyPr>
            <a:normAutofit/>
          </a:bodyPr>
          <a:lstStyle/>
          <a:p>
            <a:r>
              <a:rPr lang="ja-JP" altLang="en-US" dirty="0"/>
              <a:t>トレーニングが完了したら一度</a:t>
            </a:r>
            <a:r>
              <a:rPr lang="en-US" altLang="ja-JP" dirty="0"/>
              <a:t>Web-UI</a:t>
            </a:r>
            <a:r>
              <a:rPr lang="ja-JP" altLang="en-US" dirty="0"/>
              <a:t>を閉じた後、再度開く</a:t>
            </a:r>
            <a:endParaRPr lang="en-US" altLang="ja-JP" dirty="0"/>
          </a:p>
          <a:p>
            <a:endParaRPr lang="en-US" altLang="ja-JP" dirty="0"/>
          </a:p>
          <a:p>
            <a:r>
              <a:rPr lang="ja-JP" altLang="en-US" dirty="0"/>
              <a:t>上のメニューから「モデル推論」を選択</a:t>
            </a:r>
            <a:endParaRPr lang="en-US" altLang="ja-JP" dirty="0"/>
          </a:p>
          <a:p>
            <a:endParaRPr lang="en-US" altLang="ja-JP" dirty="0"/>
          </a:p>
          <a:p>
            <a:r>
              <a:rPr lang="ja-JP" altLang="en-US" dirty="0"/>
              <a:t>「音源推論」の欄にて先ほど作成したモデルを選択　</a:t>
            </a:r>
            <a:endParaRPr lang="en-US" altLang="ja-JP" dirty="0"/>
          </a:p>
        </p:txBody>
      </p:sp>
      <p:pic>
        <p:nvPicPr>
          <p:cNvPr id="4" name="図 3">
            <a:extLst>
              <a:ext uri="{FF2B5EF4-FFF2-40B4-BE49-F238E27FC236}">
                <a16:creationId xmlns:a16="http://schemas.microsoft.com/office/drawing/2014/main" id="{4A480461-22BC-AA3A-40B3-3952CE723A46}"/>
              </a:ext>
            </a:extLst>
          </p:cNvPr>
          <p:cNvPicPr>
            <a:picLocks noChangeAspect="1"/>
          </p:cNvPicPr>
          <p:nvPr/>
        </p:nvPicPr>
        <p:blipFill>
          <a:blip r:embed="rId2">
            <a:extLst>
              <a:ext uri="{28A0092B-C50C-407E-A947-70E740481C1C}">
                <a14:useLocalDpi xmlns:a14="http://schemas.microsoft.com/office/drawing/2010/main" val="0"/>
              </a:ext>
            </a:extLst>
          </a:blip>
          <a:srcRect b="64615"/>
          <a:stretch>
            <a:fillRect/>
          </a:stretch>
        </p:blipFill>
        <p:spPr>
          <a:xfrm>
            <a:off x="1061335" y="4623090"/>
            <a:ext cx="10069330" cy="1688810"/>
          </a:xfrm>
          <a:prstGeom prst="rect">
            <a:avLst/>
          </a:prstGeom>
        </p:spPr>
      </p:pic>
      <p:sp>
        <p:nvSpPr>
          <p:cNvPr id="5" name="正方形/長方形 4">
            <a:extLst>
              <a:ext uri="{FF2B5EF4-FFF2-40B4-BE49-F238E27FC236}">
                <a16:creationId xmlns:a16="http://schemas.microsoft.com/office/drawing/2014/main" id="{FD122179-D90A-0CE7-4833-CA3824D3187E}"/>
              </a:ext>
            </a:extLst>
          </p:cNvPr>
          <p:cNvSpPr/>
          <p:nvPr/>
        </p:nvSpPr>
        <p:spPr>
          <a:xfrm>
            <a:off x="1447331" y="4733157"/>
            <a:ext cx="740595" cy="2744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8D3C61F7-0116-664F-F6B9-C3F7BB0C4299}"/>
              </a:ext>
            </a:extLst>
          </p:cNvPr>
          <p:cNvSpPr/>
          <p:nvPr/>
        </p:nvSpPr>
        <p:spPr>
          <a:xfrm>
            <a:off x="3166533" y="5418667"/>
            <a:ext cx="426860" cy="3232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スライド番号プレースホルダー 6">
            <a:extLst>
              <a:ext uri="{FF2B5EF4-FFF2-40B4-BE49-F238E27FC236}">
                <a16:creationId xmlns:a16="http://schemas.microsoft.com/office/drawing/2014/main" id="{42389154-C891-26ED-5180-08E7969AA726}"/>
              </a:ext>
            </a:extLst>
          </p:cNvPr>
          <p:cNvSpPr>
            <a:spLocks noGrp="1"/>
          </p:cNvSpPr>
          <p:nvPr>
            <p:ph type="sldNum" sz="quarter" idx="12"/>
          </p:nvPr>
        </p:nvSpPr>
        <p:spPr/>
        <p:txBody>
          <a:bodyPr/>
          <a:lstStyle/>
          <a:p>
            <a:fld id="{FDD896F4-601B-4F0E-8AC8-6F1BA59B2012}" type="slidenum">
              <a:rPr kumimoji="1" lang="ja-JP" altLang="en-US" smtClean="0"/>
              <a:t>27</a:t>
            </a:fld>
            <a:endParaRPr kumimoji="1" lang="ja-JP" altLang="en-US"/>
          </a:p>
        </p:txBody>
      </p:sp>
    </p:spTree>
    <p:extLst>
      <p:ext uri="{BB962C8B-B14F-4D97-AF65-F5344CB8AC3E}">
        <p14:creationId xmlns:p14="http://schemas.microsoft.com/office/powerpoint/2010/main" val="238188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5FFF0-11A2-300E-94E5-87E388F89A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EE511B-8F8F-F86D-AF21-DFC31D5CAF93}"/>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ja-JP" altLang="en-US" sz="3600" dirty="0"/>
              <a:t>３</a:t>
            </a:r>
            <a:r>
              <a:rPr lang="en-US" altLang="ja-JP" sz="3600" dirty="0"/>
              <a:t>. </a:t>
            </a:r>
            <a:r>
              <a:rPr lang="ja-JP" altLang="en-US" sz="3600" dirty="0"/>
              <a:t>音声変換</a:t>
            </a:r>
            <a:endParaRPr kumimoji="1" lang="ja-JP" altLang="en-US" dirty="0"/>
          </a:p>
        </p:txBody>
      </p:sp>
      <p:sp>
        <p:nvSpPr>
          <p:cNvPr id="3" name="コンテンツ プレースホルダー 2">
            <a:extLst>
              <a:ext uri="{FF2B5EF4-FFF2-40B4-BE49-F238E27FC236}">
                <a16:creationId xmlns:a16="http://schemas.microsoft.com/office/drawing/2014/main" id="{03BA92B0-AFF4-FAFE-26ED-5A435C42372D}"/>
              </a:ext>
            </a:extLst>
          </p:cNvPr>
          <p:cNvSpPr>
            <a:spLocks noGrp="1"/>
          </p:cNvSpPr>
          <p:nvPr>
            <p:ph idx="1"/>
          </p:nvPr>
        </p:nvSpPr>
        <p:spPr/>
        <p:txBody>
          <a:bodyPr>
            <a:normAutofit/>
          </a:bodyPr>
          <a:lstStyle/>
          <a:p>
            <a:r>
              <a:rPr lang="ja-JP" altLang="en-US" dirty="0"/>
              <a:t>パラメータの設定</a:t>
            </a:r>
            <a:endParaRPr lang="en-US" altLang="ja-JP" dirty="0"/>
          </a:p>
          <a:p>
            <a:pPr lvl="1">
              <a:buFont typeface="Wingdings" panose="05000000000000000000" pitchFamily="2" charset="2"/>
              <a:buChar char="ü"/>
            </a:pPr>
            <a:r>
              <a:rPr lang="ja-JP" altLang="en-US" dirty="0"/>
              <a:t>ピッチ変更：サンプル話者と変換対象話者の半音数の差分を設定</a:t>
            </a:r>
            <a:endParaRPr lang="en-US" altLang="ja-JP" dirty="0"/>
          </a:p>
          <a:p>
            <a:pPr lvl="1">
              <a:buFont typeface="Wingdings" panose="05000000000000000000" pitchFamily="2" charset="2"/>
              <a:buChar char="ü"/>
            </a:pPr>
            <a:r>
              <a:rPr lang="ja-JP" altLang="en-US" dirty="0"/>
              <a:t>処理対象者音声ファイルのパス：</a:t>
            </a:r>
            <a:br>
              <a:rPr lang="en-US" altLang="ja-JP" dirty="0"/>
            </a:br>
            <a:r>
              <a:rPr lang="ja-JP" altLang="en-US" dirty="0"/>
              <a:t>　　変換を行いたい話者の</a:t>
            </a:r>
            <a:r>
              <a:rPr lang="ja-JP" altLang="en-US" b="1" dirty="0">
                <a:solidFill>
                  <a:srgbClr val="FF0000"/>
                </a:solidFill>
              </a:rPr>
              <a:t>音声ファイルのパス</a:t>
            </a:r>
            <a:r>
              <a:rPr lang="ja-JP" altLang="en-US" dirty="0"/>
              <a:t>を入力</a:t>
            </a:r>
            <a:br>
              <a:rPr lang="en-US" altLang="ja-JP" dirty="0"/>
            </a:br>
            <a:r>
              <a:rPr lang="ja-JP" altLang="en-US" dirty="0"/>
              <a:t>　　（パスをコピー＆ペーストする場合、パスの前後の“”を削す）</a:t>
            </a:r>
            <a:endParaRPr lang="en-US" altLang="ja-JP" dirty="0"/>
          </a:p>
          <a:p>
            <a:pPr lvl="1">
              <a:buFont typeface="Wingdings" panose="05000000000000000000" pitchFamily="2" charset="2"/>
              <a:buChar char="ü"/>
            </a:pPr>
            <a:r>
              <a:rPr lang="ja-JP" altLang="en-US" dirty="0"/>
              <a:t>求める品質に応じて、ピッチ抽出アルゴリズムを選択</a:t>
            </a:r>
            <a:endParaRPr lang="en-US" altLang="ja-JP" dirty="0"/>
          </a:p>
          <a:p>
            <a:pPr lvl="1">
              <a:buFont typeface="Wingdings" panose="05000000000000000000" pitchFamily="2" charset="2"/>
              <a:buChar char="ü"/>
            </a:pPr>
            <a:endParaRPr lang="en-US" altLang="ja-JP" dirty="0"/>
          </a:p>
          <a:p>
            <a:r>
              <a:rPr lang="ja-JP" altLang="en-US" dirty="0"/>
              <a:t>「変換」をクリック　</a:t>
            </a:r>
            <a:br>
              <a:rPr lang="en-US" altLang="ja-JP" dirty="0"/>
            </a:br>
            <a:r>
              <a:rPr lang="ja-JP" altLang="en-US" dirty="0"/>
              <a:t>　→　「出力音声」に音声ファイルが出力される</a:t>
            </a:r>
            <a:endParaRPr lang="en-US" altLang="ja-JP" dirty="0"/>
          </a:p>
        </p:txBody>
      </p:sp>
      <p:sp>
        <p:nvSpPr>
          <p:cNvPr id="4" name="スライド番号プレースホルダー 3">
            <a:extLst>
              <a:ext uri="{FF2B5EF4-FFF2-40B4-BE49-F238E27FC236}">
                <a16:creationId xmlns:a16="http://schemas.microsoft.com/office/drawing/2014/main" id="{051A6536-C022-34E4-DF08-905A53C6D3FA}"/>
              </a:ext>
            </a:extLst>
          </p:cNvPr>
          <p:cNvSpPr>
            <a:spLocks noGrp="1"/>
          </p:cNvSpPr>
          <p:nvPr>
            <p:ph type="sldNum" sz="quarter" idx="12"/>
          </p:nvPr>
        </p:nvSpPr>
        <p:spPr/>
        <p:txBody>
          <a:bodyPr/>
          <a:lstStyle/>
          <a:p>
            <a:fld id="{FDD896F4-601B-4F0E-8AC8-6F1BA59B2012}" type="slidenum">
              <a:rPr kumimoji="1" lang="ja-JP" altLang="en-US" smtClean="0"/>
              <a:t>28</a:t>
            </a:fld>
            <a:endParaRPr kumimoji="1" lang="ja-JP" altLang="en-US"/>
          </a:p>
        </p:txBody>
      </p:sp>
    </p:spTree>
    <p:extLst>
      <p:ext uri="{BB962C8B-B14F-4D97-AF65-F5344CB8AC3E}">
        <p14:creationId xmlns:p14="http://schemas.microsoft.com/office/powerpoint/2010/main" val="4746397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B3054-04F0-FFB1-73CC-C2DF5A6A51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734FA7-E088-9D76-772C-8443E82FCEFE}"/>
              </a:ext>
            </a:extLst>
          </p:cNvPr>
          <p:cNvSpPr>
            <a:spLocks noGrp="1"/>
          </p:cNvSpPr>
          <p:nvPr>
            <p:ph type="title"/>
          </p:nvPr>
        </p:nvSpPr>
        <p:spPr/>
        <p:txBody>
          <a:bodyPr/>
          <a:lstStyle/>
          <a:p>
            <a:r>
              <a:rPr lang="en-US" altLang="ja-JP" dirty="0"/>
              <a:t>RVC-</a:t>
            </a:r>
            <a:r>
              <a:rPr lang="en-US" altLang="ja-JP" dirty="0" err="1"/>
              <a:t>WebUI</a:t>
            </a:r>
            <a:r>
              <a:rPr lang="ja-JP" altLang="en-US" dirty="0"/>
              <a:t>の使い方</a:t>
            </a:r>
            <a:br>
              <a:rPr lang="en-US" altLang="ja-JP" dirty="0"/>
            </a:br>
            <a:r>
              <a:rPr lang="en-US" altLang="ja-JP" dirty="0"/>
              <a:t>	</a:t>
            </a:r>
            <a:r>
              <a:rPr lang="ja-JP" altLang="en-US" sz="3600" dirty="0"/>
              <a:t>３</a:t>
            </a:r>
            <a:r>
              <a:rPr lang="en-US" altLang="ja-JP" sz="3600" dirty="0"/>
              <a:t>. </a:t>
            </a:r>
            <a:r>
              <a:rPr lang="ja-JP" altLang="en-US" sz="3600" dirty="0"/>
              <a:t>音声変換</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05832E8-F6CF-CDA9-7698-4B2672E3B62D}"/>
                  </a:ext>
                </a:extLst>
              </p:cNvPr>
              <p:cNvSpPr>
                <a:spLocks noGrp="1"/>
              </p:cNvSpPr>
              <p:nvPr>
                <p:ph idx="1"/>
              </p:nvPr>
            </p:nvSpPr>
            <p:spPr/>
            <p:txBody>
              <a:bodyPr>
                <a:normAutofit/>
              </a:bodyPr>
              <a:lstStyle/>
              <a:p>
                <a:pPr marL="0" indent="0">
                  <a:buNone/>
                </a:pPr>
                <a:r>
                  <a:rPr lang="en-US" altLang="ja-JP" dirty="0"/>
                  <a:t>※</a:t>
                </a:r>
                <a:r>
                  <a:rPr lang="ja-JP" altLang="en-US" dirty="0"/>
                  <a:t>ピッチの変更量について</a:t>
                </a:r>
                <a:endParaRPr lang="en-US" altLang="ja-JP" dirty="0"/>
              </a:p>
              <a:p>
                <a:pPr lvl="1">
                  <a:buFont typeface="Wingdings" panose="05000000000000000000" pitchFamily="2" charset="2"/>
                  <a:buChar char="ü"/>
                </a:pPr>
                <a:r>
                  <a:rPr lang="en-US" altLang="ja-JP" dirty="0" err="1"/>
                  <a:t>Praat</a:t>
                </a:r>
                <a:r>
                  <a:rPr lang="ja-JP" altLang="en-US" dirty="0"/>
                  <a:t>等の音声分析ソフトを使用して、</a:t>
                </a:r>
                <a:br>
                  <a:rPr lang="en-US" altLang="ja-JP" dirty="0"/>
                </a:br>
                <a:r>
                  <a:rPr lang="ja-JP" altLang="en-US" dirty="0"/>
                  <a:t>学習サンプル音声と変換対象音声の平均周波数を算出する</a:t>
                </a:r>
                <a:endParaRPr lang="en-US" altLang="ja-JP" dirty="0"/>
              </a:p>
              <a:p>
                <a:pPr lvl="1">
                  <a:buFont typeface="Wingdings" panose="05000000000000000000" pitchFamily="2" charset="2"/>
                  <a:buChar char="ü"/>
                </a:pPr>
                <a:endParaRPr lang="en-US" altLang="ja-JP" dirty="0"/>
              </a:p>
              <a:p>
                <a:pPr lvl="1">
                  <a:buFont typeface="Wingdings" panose="05000000000000000000" pitchFamily="2" charset="2"/>
                  <a:buChar char="ü"/>
                </a:pPr>
                <a:r>
                  <a:rPr lang="ja-JP" altLang="en-US" dirty="0"/>
                  <a:t>２つの周波数</a:t>
                </a:r>
                <a:r>
                  <a:rPr lang="en-US" altLang="ja-JP" dirty="0"/>
                  <a:t>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a:rPr lang="en-US" altLang="ja-JP" i="1">
                            <a:latin typeface="Cambria Math" panose="02040503050406030204" pitchFamily="18" charset="0"/>
                          </a:rPr>
                          <m:t>1</m:t>
                        </m:r>
                      </m:sub>
                    </m:sSub>
                    <m:r>
                      <a:rPr lang="en-US" altLang="ja-JP" i="1">
                        <a:latin typeface="Cambria Math" panose="02040503050406030204" pitchFamily="18" charset="0"/>
                      </a:rPr>
                      <m:t> </m:t>
                    </m:r>
                    <m:r>
                      <a:rPr lang="en-US" altLang="ja-JP" b="0" i="0" smtClean="0">
                        <a:latin typeface="Cambria Math" panose="02040503050406030204" pitchFamily="18" charset="0"/>
                      </a:rPr>
                      <m:t>[</m:t>
                    </m:r>
                    <m:r>
                      <m:rPr>
                        <m:sty m:val="p"/>
                      </m:rPr>
                      <a:rPr lang="en-US" altLang="ja-JP" b="0" i="0" smtClean="0">
                        <a:latin typeface="Cambria Math" panose="02040503050406030204" pitchFamily="18" charset="0"/>
                      </a:rPr>
                      <m:t>Hz</m:t>
                    </m:r>
                    <m:r>
                      <a:rPr lang="en-US" altLang="ja-JP" b="0" i="0" smtClean="0">
                        <a:latin typeface="Cambria Math" panose="02040503050406030204" pitchFamily="18" charset="0"/>
                      </a:rPr>
                      <m:t>]</m:t>
                    </m:r>
                  </m:oMath>
                </a14:m>
                <a:r>
                  <a:rPr lang="ja-JP" altLang="en-US" dirty="0"/>
                  <a:t>と</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a:rPr lang="en-US" altLang="ja-JP" b="0" i="1" smtClean="0">
                            <a:latin typeface="Cambria Math" panose="02040503050406030204" pitchFamily="18" charset="0"/>
                          </a:rPr>
                          <m:t>2</m:t>
                        </m:r>
                      </m:sub>
                    </m:sSub>
                    <m:r>
                      <a:rPr lang="en-US" altLang="ja-JP" i="1">
                        <a:latin typeface="Cambria Math" panose="02040503050406030204" pitchFamily="18" charset="0"/>
                      </a:rPr>
                      <m:t> </m:t>
                    </m:r>
                    <m:r>
                      <a:rPr lang="en-US" altLang="ja-JP" b="0" i="0" smtClean="0">
                        <a:latin typeface="Cambria Math" panose="02040503050406030204" pitchFamily="18" charset="0"/>
                      </a:rPr>
                      <m:t>[</m:t>
                    </m:r>
                    <m:r>
                      <m:rPr>
                        <m:sty m:val="p"/>
                      </m:rPr>
                      <a:rPr lang="en-US" altLang="ja-JP" b="0" i="0" smtClean="0">
                        <a:latin typeface="Cambria Math" panose="02040503050406030204" pitchFamily="18" charset="0"/>
                      </a:rPr>
                      <m:t>Hz</m:t>
                    </m:r>
                    <m:r>
                      <a:rPr lang="en-US" altLang="ja-JP" b="0" i="0" smtClean="0">
                        <a:latin typeface="Cambria Math" panose="02040503050406030204" pitchFamily="18" charset="0"/>
                      </a:rPr>
                      <m:t>]</m:t>
                    </m:r>
                  </m:oMath>
                </a14:m>
                <a:r>
                  <a:rPr lang="ja-JP" altLang="en-US" dirty="0"/>
                  <a:t>の半音数の差は以下の式で求められる</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𝑛</m:t>
                      </m:r>
                      <m:r>
                        <a:rPr lang="en-US" altLang="ja-JP" i="1" smtClean="0">
                          <a:latin typeface="Cambria Math" panose="02040503050406030204" pitchFamily="18" charset="0"/>
                        </a:rPr>
                        <m:t>=</m:t>
                      </m:r>
                      <m:r>
                        <a:rPr lang="en-US" altLang="ja-JP" b="0" i="1" smtClean="0">
                          <a:latin typeface="Cambria Math" panose="02040503050406030204" pitchFamily="18" charset="0"/>
                        </a:rPr>
                        <m:t>12</m:t>
                      </m:r>
                      <m:r>
                        <a:rPr lang="en-US" altLang="ja-JP" b="0" i="1" smtClean="0">
                          <a:latin typeface="Cambria Math" panose="02040503050406030204" pitchFamily="18" charset="0"/>
                          <a:ea typeface="Cambria Math" panose="02040503050406030204" pitchFamily="18" charset="0"/>
                        </a:rPr>
                        <m:t>×</m:t>
                      </m:r>
                      <m:sSub>
                        <m:sSubPr>
                          <m:ctrlPr>
                            <a:rPr lang="en-US" altLang="ja-JP" i="1" smtClean="0">
                              <a:latin typeface="Cambria Math" panose="02040503050406030204" pitchFamily="18" charset="0"/>
                            </a:rPr>
                          </m:ctrlPr>
                        </m:sSubPr>
                        <m:e>
                          <m:r>
                            <m:rPr>
                              <m:sty m:val="p"/>
                            </m:rPr>
                            <a:rPr lang="en-US" altLang="ja-JP" b="0" i="0" smtClean="0">
                              <a:latin typeface="Cambria Math" panose="02040503050406030204" pitchFamily="18" charset="0"/>
                            </a:rPr>
                            <m:t>log</m:t>
                          </m:r>
                        </m:e>
                        <m:sub>
                          <m:r>
                            <a:rPr lang="en-US" altLang="ja-JP" b="0" i="1" smtClean="0">
                              <a:latin typeface="Cambria Math" panose="02040503050406030204" pitchFamily="18" charset="0"/>
                            </a:rPr>
                            <m:t>2</m:t>
                          </m:r>
                        </m:sub>
                      </m:sSub>
                      <m:r>
                        <a:rPr lang="en-US" altLang="ja-JP" b="0" i="1" smtClean="0">
                          <a:latin typeface="Cambria Math" panose="02040503050406030204" pitchFamily="18" charset="0"/>
                        </a:rPr>
                        <m:t>(</m:t>
                      </m:r>
                      <m:f>
                        <m:fPr>
                          <m:ctrlPr>
                            <a:rPr lang="en-US" altLang="ja-JP" i="1" smtClean="0">
                              <a:latin typeface="Cambria Math" panose="02040503050406030204" pitchFamily="18" charset="0"/>
                            </a:rPr>
                          </m:ctrlPr>
                        </m:fPr>
                        <m:num>
                          <m:sSub>
                            <m:sSubPr>
                              <m:ctrlPr>
                                <a:rPr lang="en-US" altLang="ja-JP"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2</m:t>
                              </m:r>
                            </m:sub>
                          </m:sSub>
                        </m:num>
                        <m:den>
                          <m:sSub>
                            <m:sSubPr>
                              <m:ctrlPr>
                                <a:rPr lang="en-US" altLang="ja-JP" i="1" smtClean="0">
                                  <a:latin typeface="Cambria Math" panose="02040503050406030204" pitchFamily="18" charset="0"/>
                                </a:rPr>
                              </m:ctrlPr>
                            </m:sSubPr>
                            <m:e>
                              <m:r>
                                <a:rPr lang="en-US" altLang="ja-JP" b="0" i="1" smtClean="0">
                                  <a:latin typeface="Cambria Math" panose="02040503050406030204" pitchFamily="18" charset="0"/>
                                </a:rPr>
                                <m:t>𝑓</m:t>
                              </m:r>
                            </m:e>
                            <m:sub>
                              <m:r>
                                <a:rPr lang="en-US" altLang="ja-JP" b="0" i="1" smtClean="0">
                                  <a:latin typeface="Cambria Math" panose="02040503050406030204" pitchFamily="18" charset="0"/>
                                </a:rPr>
                                <m:t>1</m:t>
                              </m:r>
                            </m:sub>
                          </m:sSub>
                        </m:den>
                      </m:f>
                      <m:r>
                        <a:rPr lang="en-US" altLang="ja-JP" b="0" i="1" smtClean="0">
                          <a:latin typeface="Cambria Math" panose="02040503050406030204" pitchFamily="18" charset="0"/>
                        </a:rPr>
                        <m:t>)</m:t>
                      </m:r>
                    </m:oMath>
                  </m:oMathPara>
                </a14:m>
                <a:endParaRPr lang="en-US" altLang="ja-JP" dirty="0"/>
              </a:p>
              <a:p>
                <a:pPr lvl="1">
                  <a:buFont typeface="Wingdings" panose="05000000000000000000" pitchFamily="2" charset="2"/>
                  <a:buChar char="ü"/>
                </a:pPr>
                <a:r>
                  <a:rPr lang="ja-JP" altLang="en-US" dirty="0"/>
                  <a:t>本</a:t>
                </a:r>
                <a:r>
                  <a:rPr lang="en-US" altLang="ja-JP" dirty="0"/>
                  <a:t>WS</a:t>
                </a:r>
                <a:r>
                  <a:rPr lang="ja-JP" altLang="en-US" dirty="0"/>
                  <a:t>では事前配布した「</a:t>
                </a:r>
                <a:r>
                  <a:rPr lang="en-US" altLang="ja-JP" dirty="0"/>
                  <a:t>pitch_shift_calculator.py </a:t>
                </a:r>
                <a:r>
                  <a:rPr lang="ja-JP" altLang="en-US" dirty="0"/>
                  <a:t>」を</a:t>
                </a:r>
                <a:br>
                  <a:rPr lang="en-US" altLang="ja-JP" dirty="0"/>
                </a:br>
                <a:r>
                  <a:rPr lang="ja-JP" altLang="en-US" dirty="0"/>
                  <a:t>コマンドプロンプト上で実行することでピッチの変更量を算出可能</a:t>
                </a:r>
                <a:endParaRPr lang="en-US" altLang="ja-JP" dirty="0"/>
              </a:p>
            </p:txBody>
          </p:sp>
        </mc:Choice>
        <mc:Fallback xmlns="">
          <p:sp>
            <p:nvSpPr>
              <p:cNvPr id="3" name="コンテンツ プレースホルダー 2">
                <a:extLst>
                  <a:ext uri="{FF2B5EF4-FFF2-40B4-BE49-F238E27FC236}">
                    <a16:creationId xmlns:a16="http://schemas.microsoft.com/office/drawing/2014/main" id="{E05832E8-F6CF-CDA9-7698-4B2672E3B62D}"/>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4A5C8DEF-57DB-BB4D-B625-307B246E39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1220" y="5440250"/>
            <a:ext cx="7349559" cy="1203437"/>
          </a:xfrm>
          <a:prstGeom prst="rect">
            <a:avLst/>
          </a:prstGeom>
        </p:spPr>
      </p:pic>
      <p:sp>
        <p:nvSpPr>
          <p:cNvPr id="4" name="スライド番号プレースホルダー 3">
            <a:extLst>
              <a:ext uri="{FF2B5EF4-FFF2-40B4-BE49-F238E27FC236}">
                <a16:creationId xmlns:a16="http://schemas.microsoft.com/office/drawing/2014/main" id="{E5DD7B24-64D0-185B-919F-58FE86F7BB97}"/>
              </a:ext>
            </a:extLst>
          </p:cNvPr>
          <p:cNvSpPr>
            <a:spLocks noGrp="1"/>
          </p:cNvSpPr>
          <p:nvPr>
            <p:ph type="sldNum" sz="quarter" idx="12"/>
          </p:nvPr>
        </p:nvSpPr>
        <p:spPr/>
        <p:txBody>
          <a:bodyPr/>
          <a:lstStyle/>
          <a:p>
            <a:fld id="{FDD896F4-601B-4F0E-8AC8-6F1BA59B2012}" type="slidenum">
              <a:rPr kumimoji="1" lang="ja-JP" altLang="en-US" smtClean="0"/>
              <a:t>29</a:t>
            </a:fld>
            <a:endParaRPr kumimoji="1" lang="ja-JP" altLang="en-US"/>
          </a:p>
        </p:txBody>
      </p:sp>
    </p:spTree>
    <p:extLst>
      <p:ext uri="{BB962C8B-B14F-4D97-AF65-F5344CB8AC3E}">
        <p14:creationId xmlns:p14="http://schemas.microsoft.com/office/powerpoint/2010/main" val="4074563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CC4964-CC38-BA4E-58E5-1A9738C3A987}"/>
              </a:ext>
            </a:extLst>
          </p:cNvPr>
          <p:cNvSpPr>
            <a:spLocks noGrp="1"/>
          </p:cNvSpPr>
          <p:nvPr>
            <p:ph type="title"/>
          </p:nvPr>
        </p:nvSpPr>
        <p:spPr/>
        <p:txBody>
          <a:bodyPr/>
          <a:lstStyle/>
          <a:p>
            <a:r>
              <a:rPr kumimoji="1" lang="ja-JP" altLang="en-US" dirty="0"/>
              <a:t>参考資料</a:t>
            </a:r>
          </a:p>
        </p:txBody>
      </p:sp>
      <p:sp>
        <p:nvSpPr>
          <p:cNvPr id="3" name="コンテンツ プレースホルダー 2">
            <a:extLst>
              <a:ext uri="{FF2B5EF4-FFF2-40B4-BE49-F238E27FC236}">
                <a16:creationId xmlns:a16="http://schemas.microsoft.com/office/drawing/2014/main" id="{F259D9C9-E686-2F6F-9D4A-A081F023875A}"/>
              </a:ext>
            </a:extLst>
          </p:cNvPr>
          <p:cNvSpPr>
            <a:spLocks noGrp="1"/>
          </p:cNvSpPr>
          <p:nvPr>
            <p:ph idx="1"/>
          </p:nvPr>
        </p:nvSpPr>
        <p:spPr/>
        <p:txBody>
          <a:bodyPr/>
          <a:lstStyle/>
          <a:p>
            <a:r>
              <a:rPr kumimoji="1" lang="en-US" altLang="ja-JP" dirty="0"/>
              <a:t>RVC</a:t>
            </a:r>
            <a:r>
              <a:rPr kumimoji="1" lang="ja-JP" altLang="en-US" dirty="0"/>
              <a:t>（ローカル版）の導入から実行までの手順</a:t>
            </a:r>
            <a:endParaRPr kumimoji="1" lang="en-US" altLang="ja-JP" dirty="0"/>
          </a:p>
          <a:p>
            <a:pPr lvl="1">
              <a:buFont typeface="Wingdings" panose="05000000000000000000" pitchFamily="2" charset="2"/>
              <a:buChar char="ü"/>
            </a:pPr>
            <a:r>
              <a:rPr lang="ja-JP" altLang="en-US" dirty="0"/>
              <a:t>藤原工務店：</a:t>
            </a:r>
            <a:r>
              <a:rPr lang="en-US" altLang="ja-JP" dirty="0">
                <a:hlinkClick r:id="rId3"/>
              </a:rPr>
              <a:t>https://www.youtube.com/watch?v=n6Bm7JbHn-o</a:t>
            </a:r>
            <a:endParaRPr lang="en-US" altLang="ja-JP" dirty="0"/>
          </a:p>
          <a:p>
            <a:pPr lvl="1">
              <a:buFont typeface="Wingdings" panose="05000000000000000000" pitchFamily="2" charset="2"/>
              <a:buChar char="ü"/>
            </a:pPr>
            <a:r>
              <a:rPr lang="ja-JP" altLang="en-US" dirty="0"/>
              <a:t>嗚呼蛙 </a:t>
            </a:r>
            <a:r>
              <a:rPr lang="en-US" altLang="ja-JP" dirty="0"/>
              <a:t>Unity</a:t>
            </a:r>
            <a:r>
              <a:rPr lang="ja-JP" altLang="en-US" dirty="0"/>
              <a:t>初心者向けゲーム制作解説・</a:t>
            </a:r>
            <a:r>
              <a:rPr lang="en-US" altLang="ja-JP" dirty="0"/>
              <a:t>ChatGPT</a:t>
            </a:r>
            <a:r>
              <a:rPr lang="ja-JP" altLang="en-US" dirty="0"/>
              <a:t>等</a:t>
            </a:r>
            <a:r>
              <a:rPr lang="en-US" altLang="ja-JP" dirty="0"/>
              <a:t>AI</a:t>
            </a:r>
            <a:r>
              <a:rPr lang="ja-JP" altLang="en-US" dirty="0"/>
              <a:t>解説などいろいろ：</a:t>
            </a:r>
            <a:r>
              <a:rPr lang="en-US" altLang="ja-JP" dirty="0">
                <a:hlinkClick r:id="rId4"/>
              </a:rPr>
              <a:t>https://www.youtube.com/watch?v=QthelOg3Ldc</a:t>
            </a:r>
            <a:r>
              <a:rPr lang="en-US" altLang="ja-JP" dirty="0"/>
              <a:t> </a:t>
            </a:r>
            <a:endParaRPr kumimoji="1" lang="en-US" altLang="ja-JP" dirty="0"/>
          </a:p>
          <a:p>
            <a:r>
              <a:rPr kumimoji="1" lang="en-US" altLang="ja-JP" dirty="0"/>
              <a:t>Python</a:t>
            </a:r>
            <a:r>
              <a:rPr kumimoji="1" lang="ja-JP" altLang="en-US" dirty="0"/>
              <a:t>上で</a:t>
            </a:r>
            <a:r>
              <a:rPr kumimoji="1" lang="en-US" altLang="ja-JP" dirty="0"/>
              <a:t>RVC</a:t>
            </a:r>
            <a:r>
              <a:rPr kumimoji="1" lang="ja-JP" altLang="en-US" dirty="0"/>
              <a:t>を呼び出す</a:t>
            </a:r>
            <a:endParaRPr kumimoji="1" lang="en-US" altLang="ja-JP" dirty="0"/>
          </a:p>
          <a:p>
            <a:pPr lvl="1">
              <a:buFont typeface="Wingdings" panose="05000000000000000000" pitchFamily="2" charset="2"/>
              <a:buChar char="ü"/>
            </a:pPr>
            <a:r>
              <a:rPr lang="en-US" altLang="ja-JP" dirty="0"/>
              <a:t>daswer123</a:t>
            </a:r>
            <a:r>
              <a:rPr lang="ja-JP" altLang="en-US" dirty="0"/>
              <a:t>：</a:t>
            </a:r>
            <a:r>
              <a:rPr lang="en-US" altLang="ja-JP" dirty="0"/>
              <a:t> </a:t>
            </a:r>
            <a:r>
              <a:rPr lang="en-US" altLang="ja-JP" dirty="0">
                <a:hlinkClick r:id="rId5"/>
              </a:rPr>
              <a:t>https://github.com/daswer123/rvc-python</a:t>
            </a:r>
            <a:r>
              <a:rPr lang="en-US" altLang="ja-JP" dirty="0"/>
              <a:t> </a:t>
            </a:r>
            <a:endParaRPr kumimoji="1" lang="en-US" altLang="ja-JP" dirty="0"/>
          </a:p>
          <a:p>
            <a:r>
              <a:rPr kumimoji="1" lang="ja-JP" altLang="en-US" dirty="0"/>
              <a:t>オンライン環境での</a:t>
            </a:r>
            <a:r>
              <a:rPr kumimoji="1" lang="en-US" altLang="ja-JP" dirty="0"/>
              <a:t>RVC</a:t>
            </a:r>
            <a:r>
              <a:rPr kumimoji="1" lang="ja-JP" altLang="en-US" dirty="0"/>
              <a:t>の実行</a:t>
            </a:r>
            <a:endParaRPr kumimoji="1" lang="en-US" altLang="ja-JP" dirty="0"/>
          </a:p>
          <a:p>
            <a:pPr lvl="1">
              <a:buFont typeface="Wingdings" panose="05000000000000000000" pitchFamily="2" charset="2"/>
              <a:buChar char="ü"/>
            </a:pPr>
            <a:r>
              <a:rPr lang="en-US" altLang="ja-JP" dirty="0">
                <a:hlinkClick r:id="rId6"/>
              </a:rPr>
              <a:t>https://child-programmer.com/rvc-tutorial-rp/</a:t>
            </a:r>
            <a:r>
              <a:rPr lang="en-US" altLang="ja-JP" dirty="0"/>
              <a:t> </a:t>
            </a:r>
            <a:endParaRPr kumimoji="1" lang="ja-JP" altLang="en-US" dirty="0"/>
          </a:p>
        </p:txBody>
      </p:sp>
      <p:sp>
        <p:nvSpPr>
          <p:cNvPr id="4" name="スライド番号プレースホルダー 3">
            <a:extLst>
              <a:ext uri="{FF2B5EF4-FFF2-40B4-BE49-F238E27FC236}">
                <a16:creationId xmlns:a16="http://schemas.microsoft.com/office/drawing/2014/main" id="{BCB7514D-4650-7B3C-938B-0617E5254619}"/>
              </a:ext>
            </a:extLst>
          </p:cNvPr>
          <p:cNvSpPr>
            <a:spLocks noGrp="1"/>
          </p:cNvSpPr>
          <p:nvPr>
            <p:ph type="sldNum" sz="quarter" idx="12"/>
          </p:nvPr>
        </p:nvSpPr>
        <p:spPr/>
        <p:txBody>
          <a:bodyPr/>
          <a:lstStyle/>
          <a:p>
            <a:fld id="{FDD896F4-601B-4F0E-8AC8-6F1BA59B2012}" type="slidenum">
              <a:rPr kumimoji="1" lang="ja-JP" altLang="en-US" smtClean="0"/>
              <a:t>30</a:t>
            </a:fld>
            <a:endParaRPr kumimoji="1" lang="ja-JP" altLang="en-US"/>
          </a:p>
        </p:txBody>
      </p:sp>
    </p:spTree>
    <p:extLst>
      <p:ext uri="{BB962C8B-B14F-4D97-AF65-F5344CB8AC3E}">
        <p14:creationId xmlns:p14="http://schemas.microsoft.com/office/powerpoint/2010/main" val="399130519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862</TotalTime>
  <Words>1689</Words>
  <Application>Microsoft Office PowerPoint</Application>
  <PresentationFormat>ワイド画面</PresentationFormat>
  <Paragraphs>216</Paragraphs>
  <Slides>30</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30</vt:i4>
      </vt:variant>
    </vt:vector>
  </HeadingPairs>
  <TitlesOfParts>
    <vt:vector size="36" baseType="lpstr">
      <vt:lpstr>游ゴシック</vt:lpstr>
      <vt:lpstr>游ゴシック Light</vt:lpstr>
      <vt:lpstr>Arial</vt:lpstr>
      <vt:lpstr>Cambria Math</vt:lpstr>
      <vt:lpstr>Wingdings</vt:lpstr>
      <vt:lpstr>Office テーマ</vt:lpstr>
      <vt:lpstr>RVCの導入・使用方法</vt:lpstr>
      <vt:lpstr>目次</vt:lpstr>
      <vt:lpstr>RVCとは</vt:lpstr>
      <vt:lpstr>RVCとは</vt:lpstr>
      <vt:lpstr>RVCとは</vt:lpstr>
      <vt:lpstr>RVCとは</vt:lpstr>
      <vt:lpstr>RVCの導入方法</vt:lpstr>
      <vt:lpstr>使用するツール</vt:lpstr>
      <vt:lpstr>Pythonのダウンロード</vt:lpstr>
      <vt:lpstr>RVC-beta0717のダウンロード</vt:lpstr>
      <vt:lpstr>RVC-beta0717のダウンロード</vt:lpstr>
      <vt:lpstr>RVC-beta0717のダウンロード</vt:lpstr>
      <vt:lpstr>RVC-beta0717のダウンロード</vt:lpstr>
      <vt:lpstr>RVC-beta0717のダウンロード</vt:lpstr>
      <vt:lpstr>RVC-WebUIの使い方 （トレーニング・音声変換の方法）</vt:lpstr>
      <vt:lpstr>使用するツール</vt:lpstr>
      <vt:lpstr>RVC-WebUIの使い方</vt:lpstr>
      <vt:lpstr>RVC-WebUIの使い方  1. 学習サンプル音声の準備</vt:lpstr>
      <vt:lpstr>RVC-WebUIの使い方  1. 学習サンプル音声の準備</vt:lpstr>
      <vt:lpstr>RVC-WebUIの使い方  1. 学習サンプル音声の準備</vt:lpstr>
      <vt:lpstr>RVC-WebUIの使い方  1. 学習サンプル音声の準備</vt:lpstr>
      <vt:lpstr>RVC-WebUIの使い方  1. 学習サンプル音声の準備</vt:lpstr>
      <vt:lpstr>RVC-WebUIの使い方  ２. トレーニング</vt:lpstr>
      <vt:lpstr>RVC-WebUIの使い方  ２. トレーニング</vt:lpstr>
      <vt:lpstr>RVC-WebUIの使い方  ２. トレーニング</vt:lpstr>
      <vt:lpstr>RVC-WebUIの使い方  ２. トレーニング</vt:lpstr>
      <vt:lpstr>RVC-WebUIの使い方  ３. 音声変換</vt:lpstr>
      <vt:lpstr>RVC-WebUIの使い方  ３. 音声変換</vt:lpstr>
      <vt:lpstr>RVC-WebUIの使い方  ３. 音声変換</vt:lpstr>
      <vt:lpstr>参考資料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yu_nyoronyoro</dc:creator>
  <cp:lastModifiedBy>yu_nyoronyoro</cp:lastModifiedBy>
  <cp:revision>11</cp:revision>
  <dcterms:created xsi:type="dcterms:W3CDTF">2026-03-11T09:22:26Z</dcterms:created>
  <dcterms:modified xsi:type="dcterms:W3CDTF">2026-03-25T18:26:15Z</dcterms:modified>
</cp:coreProperties>
</file>